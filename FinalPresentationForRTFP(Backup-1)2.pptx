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8" r:id="rId3"/>
    <p:sldId id="259" r:id="rId4"/>
    <p:sldId id="260" r:id="rId5"/>
    <p:sldId id="269" r:id="rId6"/>
    <p:sldId id="270" r:id="rId7"/>
    <p:sldId id="271" r:id="rId8"/>
    <p:sldId id="265" r:id="rId9"/>
    <p:sldId id="263" r:id="rId10"/>
    <p:sldId id="273" r:id="rId11"/>
    <p:sldId id="275" r:id="rId12"/>
    <p:sldId id="277" r:id="rId13"/>
    <p:sldId id="279" r:id="rId14"/>
    <p:sldId id="276" r:id="rId15"/>
    <p:sldId id="266" r:id="rId16"/>
    <p:sldId id="280"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A983D8-EEE6-4CE8-BFA0-72456592B8BF}" v="54" dt="2025-04-28T17:56:45.62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91" y="12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namargam12@gmail.com" userId="ef20bd48a65a0886" providerId="LiveId" clId="{3BA983D8-EEE6-4CE8-BFA0-72456592B8BF}"/>
    <pc:docChg chg="undo custSel addSld delSld modSld sldOrd">
      <pc:chgData name="sanjanamargam12@gmail.com" userId="ef20bd48a65a0886" providerId="LiveId" clId="{3BA983D8-EEE6-4CE8-BFA0-72456592B8BF}" dt="2025-04-28T18:05:51.875" v="1844" actId="20577"/>
      <pc:docMkLst>
        <pc:docMk/>
      </pc:docMkLst>
      <pc:sldChg chg="addSp modSp mod">
        <pc:chgData name="sanjanamargam12@gmail.com" userId="ef20bd48a65a0886" providerId="LiveId" clId="{3BA983D8-EEE6-4CE8-BFA0-72456592B8BF}" dt="2025-04-28T18:02:24.728" v="1757" actId="20577"/>
        <pc:sldMkLst>
          <pc:docMk/>
          <pc:sldMk cId="0" sldId="256"/>
        </pc:sldMkLst>
        <pc:spChg chg="add mod">
          <ac:chgData name="sanjanamargam12@gmail.com" userId="ef20bd48a65a0886" providerId="LiveId" clId="{3BA983D8-EEE6-4CE8-BFA0-72456592B8BF}" dt="2025-04-28T18:02:24.728" v="1757" actId="20577"/>
          <ac:spMkLst>
            <pc:docMk/>
            <pc:sldMk cId="0" sldId="256"/>
            <ac:spMk id="4" creationId="{192347F2-F53F-B258-3BED-7A2CEADDA8F3}"/>
          </ac:spMkLst>
        </pc:spChg>
        <pc:picChg chg="mod">
          <ac:chgData name="sanjanamargam12@gmail.com" userId="ef20bd48a65a0886" providerId="LiveId" clId="{3BA983D8-EEE6-4CE8-BFA0-72456592B8BF}" dt="2025-04-28T18:02:06.076" v="1745" actId="14100"/>
          <ac:picMkLst>
            <pc:docMk/>
            <pc:sldMk cId="0" sldId="256"/>
            <ac:picMk id="2" creationId="{00000000-0000-0000-0000-000000000000}"/>
          </ac:picMkLst>
        </pc:picChg>
      </pc:sldChg>
      <pc:sldChg chg="del">
        <pc:chgData name="sanjanamargam12@gmail.com" userId="ef20bd48a65a0886" providerId="LiveId" clId="{3BA983D8-EEE6-4CE8-BFA0-72456592B8BF}" dt="2025-04-28T18:00:57.815" v="1711" actId="47"/>
        <pc:sldMkLst>
          <pc:docMk/>
          <pc:sldMk cId="0" sldId="257"/>
        </pc:sldMkLst>
      </pc:sldChg>
      <pc:sldChg chg="ord">
        <pc:chgData name="sanjanamargam12@gmail.com" userId="ef20bd48a65a0886" providerId="LiveId" clId="{3BA983D8-EEE6-4CE8-BFA0-72456592B8BF}" dt="2025-04-28T16:39:47.573" v="291"/>
        <pc:sldMkLst>
          <pc:docMk/>
          <pc:sldMk cId="0" sldId="260"/>
        </pc:sldMkLst>
      </pc:sldChg>
      <pc:sldChg chg="addSp delSp modSp mod">
        <pc:chgData name="sanjanamargam12@gmail.com" userId="ef20bd48a65a0886" providerId="LiveId" clId="{3BA983D8-EEE6-4CE8-BFA0-72456592B8BF}" dt="2025-04-28T18:02:55.440" v="1758" actId="14100"/>
        <pc:sldMkLst>
          <pc:docMk/>
          <pc:sldMk cId="0" sldId="263"/>
        </pc:sldMkLst>
        <pc:spChg chg="add del mod">
          <ac:chgData name="sanjanamargam12@gmail.com" userId="ef20bd48a65a0886" providerId="LiveId" clId="{3BA983D8-EEE6-4CE8-BFA0-72456592B8BF}" dt="2025-04-28T16:05:54.570" v="11" actId="478"/>
          <ac:spMkLst>
            <pc:docMk/>
            <pc:sldMk cId="0" sldId="263"/>
            <ac:spMk id="4" creationId="{C849CE31-76FF-6C4E-D72D-7289A085F31E}"/>
          </ac:spMkLst>
        </pc:spChg>
        <pc:spChg chg="add del mod">
          <ac:chgData name="sanjanamargam12@gmail.com" userId="ef20bd48a65a0886" providerId="LiveId" clId="{3BA983D8-EEE6-4CE8-BFA0-72456592B8BF}" dt="2025-04-28T16:05:54.570" v="11" actId="478"/>
          <ac:spMkLst>
            <pc:docMk/>
            <pc:sldMk cId="0" sldId="263"/>
            <ac:spMk id="5" creationId="{0D9661C8-6B89-8777-CAE9-D7D2C9766DE2}"/>
          </ac:spMkLst>
        </pc:spChg>
        <pc:picChg chg="add mod ord">
          <ac:chgData name="sanjanamargam12@gmail.com" userId="ef20bd48a65a0886" providerId="LiveId" clId="{3BA983D8-EEE6-4CE8-BFA0-72456592B8BF}" dt="2025-04-28T16:08:19.504" v="17" actId="167"/>
          <ac:picMkLst>
            <pc:docMk/>
            <pc:sldMk cId="0" sldId="263"/>
            <ac:picMk id="7" creationId="{F44041D0-9FFA-C75C-4D29-43EB3C9510B2}"/>
          </ac:picMkLst>
        </pc:picChg>
        <pc:cxnChg chg="add mod">
          <ac:chgData name="sanjanamargam12@gmail.com" userId="ef20bd48a65a0886" providerId="LiveId" clId="{3BA983D8-EEE6-4CE8-BFA0-72456592B8BF}" dt="2025-04-28T18:02:55.440" v="1758" actId="14100"/>
          <ac:cxnSpMkLst>
            <pc:docMk/>
            <pc:sldMk cId="0" sldId="263"/>
            <ac:cxnSpMk id="9" creationId="{AA22807C-3A76-70BA-4CD8-1D4CF8D00525}"/>
          </ac:cxnSpMkLst>
        </pc:cxnChg>
      </pc:sldChg>
      <pc:sldChg chg="del">
        <pc:chgData name="sanjanamargam12@gmail.com" userId="ef20bd48a65a0886" providerId="LiveId" clId="{3BA983D8-EEE6-4CE8-BFA0-72456592B8BF}" dt="2025-04-28T16:11:01.045" v="29" actId="47"/>
        <pc:sldMkLst>
          <pc:docMk/>
          <pc:sldMk cId="0" sldId="267"/>
        </pc:sldMkLst>
      </pc:sldChg>
      <pc:sldChg chg="modSp mod">
        <pc:chgData name="sanjanamargam12@gmail.com" userId="ef20bd48a65a0886" providerId="LiveId" clId="{3BA983D8-EEE6-4CE8-BFA0-72456592B8BF}" dt="2025-04-28T16:47:50.296" v="339" actId="120"/>
        <pc:sldMkLst>
          <pc:docMk/>
          <pc:sldMk cId="2433902592" sldId="271"/>
        </pc:sldMkLst>
        <pc:spChg chg="mod">
          <ac:chgData name="sanjanamargam12@gmail.com" userId="ef20bd48a65a0886" providerId="LiveId" clId="{3BA983D8-EEE6-4CE8-BFA0-72456592B8BF}" dt="2025-04-28T16:47:50.296" v="339" actId="120"/>
          <ac:spMkLst>
            <pc:docMk/>
            <pc:sldMk cId="2433902592" sldId="271"/>
            <ac:spMk id="3" creationId="{FF856D2A-EC56-DE33-5345-556B8E0966C6}"/>
          </ac:spMkLst>
        </pc:spChg>
      </pc:sldChg>
      <pc:sldChg chg="modSp del mod">
        <pc:chgData name="sanjanamargam12@gmail.com" userId="ef20bd48a65a0886" providerId="LiveId" clId="{3BA983D8-EEE6-4CE8-BFA0-72456592B8BF}" dt="2025-04-28T16:48:02.893" v="340" actId="47"/>
        <pc:sldMkLst>
          <pc:docMk/>
          <pc:sldMk cId="4027450467" sldId="272"/>
        </pc:sldMkLst>
        <pc:spChg chg="mod">
          <ac:chgData name="sanjanamargam12@gmail.com" userId="ef20bd48a65a0886" providerId="LiveId" clId="{3BA983D8-EEE6-4CE8-BFA0-72456592B8BF}" dt="2025-04-28T16:46:11.966" v="326" actId="404"/>
          <ac:spMkLst>
            <pc:docMk/>
            <pc:sldMk cId="4027450467" sldId="272"/>
            <ac:spMk id="2" creationId="{5F0F20DA-F240-CE3B-A7CC-E3D6B96392A6}"/>
          </ac:spMkLst>
        </pc:spChg>
      </pc:sldChg>
      <pc:sldChg chg="addSp delSp modSp add mod ord">
        <pc:chgData name="sanjanamargam12@gmail.com" userId="ef20bd48a65a0886" providerId="LiveId" clId="{3BA983D8-EEE6-4CE8-BFA0-72456592B8BF}" dt="2025-04-28T17:46:40.835" v="1141" actId="20577"/>
        <pc:sldMkLst>
          <pc:docMk/>
          <pc:sldMk cId="1438988295" sldId="273"/>
        </pc:sldMkLst>
        <pc:spChg chg="del mod">
          <ac:chgData name="sanjanamargam12@gmail.com" userId="ef20bd48a65a0886" providerId="LiveId" clId="{3BA983D8-EEE6-4CE8-BFA0-72456592B8BF}" dt="2025-04-28T16:54:54.585" v="343" actId="478"/>
          <ac:spMkLst>
            <pc:docMk/>
            <pc:sldMk cId="1438988295" sldId="273"/>
            <ac:spMk id="2" creationId="{7A1033FB-1B2A-130F-F857-5381AA8614FE}"/>
          </ac:spMkLst>
        </pc:spChg>
        <pc:spChg chg="add mod">
          <ac:chgData name="sanjanamargam12@gmail.com" userId="ef20bd48a65a0886" providerId="LiveId" clId="{3BA983D8-EEE6-4CE8-BFA0-72456592B8BF}" dt="2025-04-28T17:46:40.835" v="1141" actId="20577"/>
          <ac:spMkLst>
            <pc:docMk/>
            <pc:sldMk cId="1438988295" sldId="273"/>
            <ac:spMk id="3" creationId="{8E1BB7CE-BCDA-E572-101A-C2ED6C36ABD2}"/>
          </ac:spMkLst>
        </pc:spChg>
        <pc:spChg chg="add del mod">
          <ac:chgData name="sanjanamargam12@gmail.com" userId="ef20bd48a65a0886" providerId="LiveId" clId="{3BA983D8-EEE6-4CE8-BFA0-72456592B8BF}" dt="2025-04-28T17:35:39.342" v="820" actId="478"/>
          <ac:spMkLst>
            <pc:docMk/>
            <pc:sldMk cId="1438988295" sldId="273"/>
            <ac:spMk id="4" creationId="{9B4062DD-C0C2-CE78-8810-FC6336ED6479}"/>
          </ac:spMkLst>
        </pc:spChg>
      </pc:sldChg>
      <pc:sldChg chg="add del">
        <pc:chgData name="sanjanamargam12@gmail.com" userId="ef20bd48a65a0886" providerId="LiveId" clId="{3BA983D8-EEE6-4CE8-BFA0-72456592B8BF}" dt="2025-04-28T16:11:03.782" v="30" actId="47"/>
        <pc:sldMkLst>
          <pc:docMk/>
          <pc:sldMk cId="2984702902" sldId="274"/>
        </pc:sldMkLst>
      </pc:sldChg>
      <pc:sldChg chg="addSp delSp modSp add mod">
        <pc:chgData name="sanjanamargam12@gmail.com" userId="ef20bd48a65a0886" providerId="LiveId" clId="{3BA983D8-EEE6-4CE8-BFA0-72456592B8BF}" dt="2025-04-28T17:48:40.953" v="1176" actId="20577"/>
        <pc:sldMkLst>
          <pc:docMk/>
          <pc:sldMk cId="2556871331" sldId="275"/>
        </pc:sldMkLst>
        <pc:spChg chg="del">
          <ac:chgData name="sanjanamargam12@gmail.com" userId="ef20bd48a65a0886" providerId="LiveId" clId="{3BA983D8-EEE6-4CE8-BFA0-72456592B8BF}" dt="2025-04-28T17:27:24.635" v="620" actId="478"/>
          <ac:spMkLst>
            <pc:docMk/>
            <pc:sldMk cId="2556871331" sldId="275"/>
            <ac:spMk id="2" creationId="{D60B7DA5-BD9B-03C3-52C2-70A28629F659}"/>
          </ac:spMkLst>
        </pc:spChg>
        <pc:spChg chg="add del mod">
          <ac:chgData name="sanjanamargam12@gmail.com" userId="ef20bd48a65a0886" providerId="LiveId" clId="{3BA983D8-EEE6-4CE8-BFA0-72456592B8BF}" dt="2025-04-28T17:27:26.184" v="621" actId="478"/>
          <ac:spMkLst>
            <pc:docMk/>
            <pc:sldMk cId="2556871331" sldId="275"/>
            <ac:spMk id="4" creationId="{56FF1031-F04B-53FD-2BEC-8507B1ADC1CA}"/>
          </ac:spMkLst>
        </pc:spChg>
        <pc:spChg chg="add mod">
          <ac:chgData name="sanjanamargam12@gmail.com" userId="ef20bd48a65a0886" providerId="LiveId" clId="{3BA983D8-EEE6-4CE8-BFA0-72456592B8BF}" dt="2025-04-28T17:48:40.953" v="1176" actId="20577"/>
          <ac:spMkLst>
            <pc:docMk/>
            <pc:sldMk cId="2556871331" sldId="275"/>
            <ac:spMk id="5" creationId="{F458B80C-3206-8F39-C74C-023D5A6E895C}"/>
          </ac:spMkLst>
        </pc:spChg>
        <pc:spChg chg="add mod">
          <ac:chgData name="sanjanamargam12@gmail.com" userId="ef20bd48a65a0886" providerId="LiveId" clId="{3BA983D8-EEE6-4CE8-BFA0-72456592B8BF}" dt="2025-04-28T17:47:15.024" v="1143" actId="20577"/>
          <ac:spMkLst>
            <pc:docMk/>
            <pc:sldMk cId="2556871331" sldId="275"/>
            <ac:spMk id="6" creationId="{3B11D9A9-96FD-DD11-ED21-1676999A15C1}"/>
          </ac:spMkLst>
        </pc:spChg>
        <pc:spChg chg="add del mod">
          <ac:chgData name="sanjanamargam12@gmail.com" userId="ef20bd48a65a0886" providerId="LiveId" clId="{3BA983D8-EEE6-4CE8-BFA0-72456592B8BF}" dt="2025-04-28T17:37:11.798" v="865" actId="478"/>
          <ac:spMkLst>
            <pc:docMk/>
            <pc:sldMk cId="2556871331" sldId="275"/>
            <ac:spMk id="7" creationId="{22C31615-22CD-3539-EDF1-304A34C2D5CD}"/>
          </ac:spMkLst>
        </pc:spChg>
        <pc:spChg chg="add del mod">
          <ac:chgData name="sanjanamargam12@gmail.com" userId="ef20bd48a65a0886" providerId="LiveId" clId="{3BA983D8-EEE6-4CE8-BFA0-72456592B8BF}" dt="2025-04-28T17:37:33.479" v="870" actId="478"/>
          <ac:spMkLst>
            <pc:docMk/>
            <pc:sldMk cId="2556871331" sldId="275"/>
            <ac:spMk id="8" creationId="{913DF78D-219C-7C29-1AE7-EC23804746A6}"/>
          </ac:spMkLst>
        </pc:spChg>
      </pc:sldChg>
      <pc:sldChg chg="addSp delSp modSp add mod">
        <pc:chgData name="sanjanamargam12@gmail.com" userId="ef20bd48a65a0886" providerId="LiveId" clId="{3BA983D8-EEE6-4CE8-BFA0-72456592B8BF}" dt="2025-04-28T18:05:51.875" v="1844" actId="20577"/>
        <pc:sldMkLst>
          <pc:docMk/>
          <pc:sldMk cId="4222128504" sldId="276"/>
        </pc:sldMkLst>
        <pc:spChg chg="del">
          <ac:chgData name="sanjanamargam12@gmail.com" userId="ef20bd48a65a0886" providerId="LiveId" clId="{3BA983D8-EEE6-4CE8-BFA0-72456592B8BF}" dt="2025-04-28T16:34:31.934" v="258" actId="478"/>
          <ac:spMkLst>
            <pc:docMk/>
            <pc:sldMk cId="4222128504" sldId="276"/>
            <ac:spMk id="2" creationId="{FBBF4356-37F0-8C9D-AEB9-1E2AF3C9A71F}"/>
          </ac:spMkLst>
        </pc:spChg>
        <pc:spChg chg="add">
          <ac:chgData name="sanjanamargam12@gmail.com" userId="ef20bd48a65a0886" providerId="LiveId" clId="{3BA983D8-EEE6-4CE8-BFA0-72456592B8BF}" dt="2025-04-28T16:10:28.937" v="25"/>
          <ac:spMkLst>
            <pc:docMk/>
            <pc:sldMk cId="4222128504" sldId="276"/>
            <ac:spMk id="3" creationId="{F784609D-F3BE-BFC7-E082-5433103E87F3}"/>
          </ac:spMkLst>
        </pc:spChg>
        <pc:spChg chg="add">
          <ac:chgData name="sanjanamargam12@gmail.com" userId="ef20bd48a65a0886" providerId="LiveId" clId="{3BA983D8-EEE6-4CE8-BFA0-72456592B8BF}" dt="2025-04-28T16:10:40.781" v="26"/>
          <ac:spMkLst>
            <pc:docMk/>
            <pc:sldMk cId="4222128504" sldId="276"/>
            <ac:spMk id="4" creationId="{58931022-E2D2-CDE9-C30D-B71E47513F39}"/>
          </ac:spMkLst>
        </pc:spChg>
        <pc:spChg chg="add del mod">
          <ac:chgData name="sanjanamargam12@gmail.com" userId="ef20bd48a65a0886" providerId="LiveId" clId="{3BA983D8-EEE6-4CE8-BFA0-72456592B8BF}" dt="2025-04-28T16:34:37.717" v="259" actId="478"/>
          <ac:spMkLst>
            <pc:docMk/>
            <pc:sldMk cId="4222128504" sldId="276"/>
            <ac:spMk id="6" creationId="{74B10A87-530C-A8B7-E712-B2894D17C532}"/>
          </ac:spMkLst>
        </pc:spChg>
        <pc:spChg chg="add mod">
          <ac:chgData name="sanjanamargam12@gmail.com" userId="ef20bd48a65a0886" providerId="LiveId" clId="{3BA983D8-EEE6-4CE8-BFA0-72456592B8BF}" dt="2025-04-28T18:05:51.875" v="1844" actId="20577"/>
          <ac:spMkLst>
            <pc:docMk/>
            <pc:sldMk cId="4222128504" sldId="276"/>
            <ac:spMk id="7" creationId="{C59AA69C-0602-E3F8-C21B-B223B8FBA12C}"/>
          </ac:spMkLst>
        </pc:spChg>
      </pc:sldChg>
      <pc:sldChg chg="addSp delSp modSp add mod">
        <pc:chgData name="sanjanamargam12@gmail.com" userId="ef20bd48a65a0886" providerId="LiveId" clId="{3BA983D8-EEE6-4CE8-BFA0-72456592B8BF}" dt="2025-04-28T18:03:56.048" v="1803" actId="20577"/>
        <pc:sldMkLst>
          <pc:docMk/>
          <pc:sldMk cId="2250698458" sldId="277"/>
        </pc:sldMkLst>
        <pc:spChg chg="del">
          <ac:chgData name="sanjanamargam12@gmail.com" userId="ef20bd48a65a0886" providerId="LiveId" clId="{3BA983D8-EEE6-4CE8-BFA0-72456592B8BF}" dt="2025-04-28T17:42:54.418" v="1027" actId="478"/>
          <ac:spMkLst>
            <pc:docMk/>
            <pc:sldMk cId="2250698458" sldId="277"/>
            <ac:spMk id="2" creationId="{6E901A8D-C1B4-3CCF-54CC-C9EE38E64E7E}"/>
          </ac:spMkLst>
        </pc:spChg>
        <pc:spChg chg="add del mod">
          <ac:chgData name="sanjanamargam12@gmail.com" userId="ef20bd48a65a0886" providerId="LiveId" clId="{3BA983D8-EEE6-4CE8-BFA0-72456592B8BF}" dt="2025-04-28T17:42:58.192" v="1028" actId="478"/>
          <ac:spMkLst>
            <pc:docMk/>
            <pc:sldMk cId="2250698458" sldId="277"/>
            <ac:spMk id="4" creationId="{8A86B464-7F9C-F9E1-5850-D6D4BF2EE4AE}"/>
          </ac:spMkLst>
        </pc:spChg>
        <pc:spChg chg="add mod">
          <ac:chgData name="sanjanamargam12@gmail.com" userId="ef20bd48a65a0886" providerId="LiveId" clId="{3BA983D8-EEE6-4CE8-BFA0-72456592B8BF}" dt="2025-04-28T18:03:56.048" v="1803" actId="20577"/>
          <ac:spMkLst>
            <pc:docMk/>
            <pc:sldMk cId="2250698458" sldId="277"/>
            <ac:spMk id="5" creationId="{47B80FC4-E43D-F8B8-2660-8C7CD87D1DEC}"/>
          </ac:spMkLst>
        </pc:spChg>
      </pc:sldChg>
      <pc:sldChg chg="addSp delSp modSp add del mod">
        <pc:chgData name="sanjanamargam12@gmail.com" userId="ef20bd48a65a0886" providerId="LiveId" clId="{3BA983D8-EEE6-4CE8-BFA0-72456592B8BF}" dt="2025-04-28T16:23:54.370" v="129" actId="47"/>
        <pc:sldMkLst>
          <pc:docMk/>
          <pc:sldMk cId="1608096872" sldId="278"/>
        </pc:sldMkLst>
        <pc:spChg chg="del mod">
          <ac:chgData name="sanjanamargam12@gmail.com" userId="ef20bd48a65a0886" providerId="LiveId" clId="{3BA983D8-EEE6-4CE8-BFA0-72456592B8BF}" dt="2025-04-28T16:15:27.631" v="34" actId="478"/>
          <ac:spMkLst>
            <pc:docMk/>
            <pc:sldMk cId="1608096872" sldId="278"/>
            <ac:spMk id="2" creationId="{7E0A8E93-0E5A-E412-1D72-5B82A724EFAF}"/>
          </ac:spMkLst>
        </pc:spChg>
        <pc:spChg chg="add del mod">
          <ac:chgData name="sanjanamargam12@gmail.com" userId="ef20bd48a65a0886" providerId="LiveId" clId="{3BA983D8-EEE6-4CE8-BFA0-72456592B8BF}" dt="2025-04-28T16:23:45.429" v="127" actId="478"/>
          <ac:spMkLst>
            <pc:docMk/>
            <pc:sldMk cId="1608096872" sldId="278"/>
            <ac:spMk id="5" creationId="{77FBB967-E0AA-2CE6-F358-56571F586262}"/>
          </ac:spMkLst>
        </pc:spChg>
        <pc:graphicFrameChg chg="add del mod modGraphic">
          <ac:chgData name="sanjanamargam12@gmail.com" userId="ef20bd48a65a0886" providerId="LiveId" clId="{3BA983D8-EEE6-4CE8-BFA0-72456592B8BF}" dt="2025-04-28T16:18:11.689" v="47" actId="478"/>
          <ac:graphicFrameMkLst>
            <pc:docMk/>
            <pc:sldMk cId="1608096872" sldId="278"/>
            <ac:graphicFrameMk id="3" creationId="{CEDDC57A-5D6F-3D0C-4A64-CE477FEA7B06}"/>
          </ac:graphicFrameMkLst>
        </pc:graphicFrameChg>
        <pc:graphicFrameChg chg="add del mod modGraphic">
          <ac:chgData name="sanjanamargam12@gmail.com" userId="ef20bd48a65a0886" providerId="LiveId" clId="{3BA983D8-EEE6-4CE8-BFA0-72456592B8BF}" dt="2025-04-28T16:22:42.292" v="122" actId="478"/>
          <ac:graphicFrameMkLst>
            <pc:docMk/>
            <pc:sldMk cId="1608096872" sldId="278"/>
            <ac:graphicFrameMk id="4" creationId="{8ED6B612-2176-8539-3FE6-7A21EEAEA117}"/>
          </ac:graphicFrameMkLst>
        </pc:graphicFrameChg>
      </pc:sldChg>
      <pc:sldChg chg="addSp delSp modSp add mod">
        <pc:chgData name="sanjanamargam12@gmail.com" userId="ef20bd48a65a0886" providerId="LiveId" clId="{3BA983D8-EEE6-4CE8-BFA0-72456592B8BF}" dt="2025-04-28T18:05:44.923" v="1843" actId="20577"/>
        <pc:sldMkLst>
          <pc:docMk/>
          <pc:sldMk cId="3658678389" sldId="279"/>
        </pc:sldMkLst>
        <pc:spChg chg="del mod">
          <ac:chgData name="sanjanamargam12@gmail.com" userId="ef20bd48a65a0886" providerId="LiveId" clId="{3BA983D8-EEE6-4CE8-BFA0-72456592B8BF}" dt="2025-04-28T16:26:49.788" v="139" actId="478"/>
          <ac:spMkLst>
            <pc:docMk/>
            <pc:sldMk cId="3658678389" sldId="279"/>
            <ac:spMk id="2" creationId="{1FFBEC6F-E03B-AE03-0549-CF617175890A}"/>
          </ac:spMkLst>
        </pc:spChg>
        <pc:spChg chg="add mod">
          <ac:chgData name="sanjanamargam12@gmail.com" userId="ef20bd48a65a0886" providerId="LiveId" clId="{3BA983D8-EEE6-4CE8-BFA0-72456592B8BF}" dt="2025-04-28T17:55:26.182" v="1450" actId="14100"/>
          <ac:spMkLst>
            <pc:docMk/>
            <pc:sldMk cId="3658678389" sldId="279"/>
            <ac:spMk id="4" creationId="{7AA117F0-F10A-B61D-346A-D66E78AC776B}"/>
          </ac:spMkLst>
        </pc:spChg>
        <pc:spChg chg="add mod">
          <ac:chgData name="sanjanamargam12@gmail.com" userId="ef20bd48a65a0886" providerId="LiveId" clId="{3BA983D8-EEE6-4CE8-BFA0-72456592B8BF}" dt="2025-04-28T18:04:54.380" v="1806" actId="14100"/>
          <ac:spMkLst>
            <pc:docMk/>
            <pc:sldMk cId="3658678389" sldId="279"/>
            <ac:spMk id="5" creationId="{15DCB06E-EF91-26B5-C275-C285762518B4}"/>
          </ac:spMkLst>
        </pc:spChg>
        <pc:graphicFrameChg chg="add mod modGraphic">
          <ac:chgData name="sanjanamargam12@gmail.com" userId="ef20bd48a65a0886" providerId="LiveId" clId="{3BA983D8-EEE6-4CE8-BFA0-72456592B8BF}" dt="2025-04-28T18:05:44.923" v="1843" actId="20577"/>
          <ac:graphicFrameMkLst>
            <pc:docMk/>
            <pc:sldMk cId="3658678389" sldId="279"/>
            <ac:graphicFrameMk id="3" creationId="{D3D4AB9E-2184-9D34-0E43-E5176F2797B2}"/>
          </ac:graphicFrameMkLst>
        </pc:graphicFrameChg>
      </pc:sldChg>
      <pc:sldChg chg="add del">
        <pc:chgData name="sanjanamargam12@gmail.com" userId="ef20bd48a65a0886" providerId="LiveId" clId="{3BA983D8-EEE6-4CE8-BFA0-72456592B8BF}" dt="2025-04-28T16:24:19.367" v="132"/>
        <pc:sldMkLst>
          <pc:docMk/>
          <pc:sldMk cId="1993530591" sldId="280"/>
        </pc:sldMkLst>
      </pc:sldChg>
      <pc:sldChg chg="modSp add mod">
        <pc:chgData name="sanjanamargam12@gmail.com" userId="ef20bd48a65a0886" providerId="LiveId" clId="{3BA983D8-EEE6-4CE8-BFA0-72456592B8BF}" dt="2025-04-28T17:56:01.393" v="1472" actId="14100"/>
        <pc:sldMkLst>
          <pc:docMk/>
          <pc:sldMk cId="3342152485" sldId="280"/>
        </pc:sldMkLst>
        <pc:spChg chg="mod">
          <ac:chgData name="sanjanamargam12@gmail.com" userId="ef20bd48a65a0886" providerId="LiveId" clId="{3BA983D8-EEE6-4CE8-BFA0-72456592B8BF}" dt="2025-04-28T17:56:01.393" v="1472" actId="14100"/>
          <ac:spMkLst>
            <pc:docMk/>
            <pc:sldMk cId="3342152485" sldId="280"/>
            <ac:spMk id="5" creationId="{0558A8D2-ED95-3E9B-2157-2A346A869C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5400" b="0" i="0">
                <a:solidFill>
                  <a:schemeClr val="tx1"/>
                </a:solidFill>
                <a:latin typeface="Lucida Sans Unicode"/>
                <a:cs typeface="Lucida Sans Unicode"/>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Lucida Sans Unicode"/>
                <a:cs typeface="Lucida Sans Unicode"/>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65695" y="5944933"/>
            <a:ext cx="6530340" cy="913130"/>
          </a:xfrm>
          <a:custGeom>
            <a:avLst/>
            <a:gdLst/>
            <a:ahLst/>
            <a:cxnLst/>
            <a:rect l="l" t="t" r="r" b="b"/>
            <a:pathLst>
              <a:path w="6530340" h="913129">
                <a:moveTo>
                  <a:pt x="114278" y="21357"/>
                </a:moveTo>
                <a:lnTo>
                  <a:pt x="4849028" y="913066"/>
                </a:lnTo>
                <a:lnTo>
                  <a:pt x="6529884" y="913066"/>
                </a:lnTo>
                <a:lnTo>
                  <a:pt x="114278" y="21357"/>
                </a:lnTo>
                <a:close/>
              </a:path>
              <a:path w="6530340" h="913129">
                <a:moveTo>
                  <a:pt x="876" y="0"/>
                </a:moveTo>
                <a:lnTo>
                  <a:pt x="0" y="5473"/>
                </a:lnTo>
                <a:lnTo>
                  <a:pt x="114278" y="21357"/>
                </a:lnTo>
                <a:lnTo>
                  <a:pt x="876" y="0"/>
                </a:lnTo>
                <a:close/>
              </a:path>
            </a:pathLst>
          </a:custGeom>
          <a:solidFill>
            <a:srgbClr val="9FCADC">
              <a:alpha val="39999"/>
            </a:srgbClr>
          </a:solidFill>
        </p:spPr>
        <p:txBody>
          <a:bodyPr wrap="square" lIns="0" tIns="0" rIns="0" bIns="0" rtlCol="0"/>
          <a:lstStyle/>
          <a:p>
            <a:endParaRPr/>
          </a:p>
        </p:txBody>
      </p:sp>
      <p:sp>
        <p:nvSpPr>
          <p:cNvPr id="17" name="bg object 17"/>
          <p:cNvSpPr/>
          <p:nvPr/>
        </p:nvSpPr>
        <p:spPr>
          <a:xfrm>
            <a:off x="647623" y="5939015"/>
            <a:ext cx="4869180" cy="919480"/>
          </a:xfrm>
          <a:custGeom>
            <a:avLst/>
            <a:gdLst/>
            <a:ahLst/>
            <a:cxnLst/>
            <a:rect l="l" t="t" r="r" b="b"/>
            <a:pathLst>
              <a:path w="4869180" h="919479">
                <a:moveTo>
                  <a:pt x="0" y="0"/>
                </a:moveTo>
                <a:lnTo>
                  <a:pt x="10566" y="6349"/>
                </a:lnTo>
                <a:lnTo>
                  <a:pt x="3825200" y="918984"/>
                </a:lnTo>
                <a:lnTo>
                  <a:pt x="4869180" y="918984"/>
                </a:lnTo>
                <a:lnTo>
                  <a:pt x="0" y="0"/>
                </a:lnTo>
                <a:close/>
              </a:path>
            </a:pathLst>
          </a:custGeom>
          <a:solidFill>
            <a:srgbClr val="000000"/>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0" y="5789678"/>
            <a:ext cx="4527042" cy="1066038"/>
          </a:xfrm>
          <a:prstGeom prst="rect">
            <a:avLst/>
          </a:prstGeom>
        </p:spPr>
      </p:pic>
      <p:pic>
        <p:nvPicPr>
          <p:cNvPr id="19" name="bg object 19"/>
          <p:cNvPicPr/>
          <p:nvPr/>
        </p:nvPicPr>
        <p:blipFill>
          <a:blip r:embed="rId8" cstate="print"/>
          <a:stretch>
            <a:fillRect/>
          </a:stretch>
        </p:blipFill>
        <p:spPr>
          <a:xfrm>
            <a:off x="0" y="5784472"/>
            <a:ext cx="4495148" cy="1073527"/>
          </a:xfrm>
          <a:prstGeom prst="rect">
            <a:avLst/>
          </a:prstGeom>
        </p:spPr>
      </p:pic>
      <p:sp>
        <p:nvSpPr>
          <p:cNvPr id="2" name="Holder 2"/>
          <p:cNvSpPr>
            <a:spLocks noGrp="1"/>
          </p:cNvSpPr>
          <p:nvPr>
            <p:ph type="title"/>
          </p:nvPr>
        </p:nvSpPr>
        <p:spPr>
          <a:xfrm>
            <a:off x="4357878" y="2290698"/>
            <a:ext cx="3583940" cy="848360"/>
          </a:xfrm>
          <a:prstGeom prst="rect">
            <a:avLst/>
          </a:prstGeom>
        </p:spPr>
        <p:txBody>
          <a:bodyPr wrap="square" lIns="0" tIns="0" rIns="0" bIns="0">
            <a:spAutoFit/>
          </a:bodyPr>
          <a:lstStyle>
            <a:lvl1pPr>
              <a:defRPr sz="5400" b="0" i="0">
                <a:solidFill>
                  <a:schemeClr val="tx1"/>
                </a:solidFill>
                <a:latin typeface="Lucida Sans Unicode"/>
                <a:cs typeface="Lucida Sans Unicode"/>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19400" y="1042626"/>
            <a:ext cx="6705600" cy="2081573"/>
          </a:xfrm>
          <a:prstGeom prst="rect">
            <a:avLst/>
          </a:prstGeom>
        </p:spPr>
      </p:pic>
      <p:pic>
        <p:nvPicPr>
          <p:cNvPr id="3" name="object 3"/>
          <p:cNvPicPr/>
          <p:nvPr/>
        </p:nvPicPr>
        <p:blipFill>
          <a:blip r:embed="rId3" cstate="print"/>
          <a:stretch>
            <a:fillRect/>
          </a:stretch>
        </p:blipFill>
        <p:spPr>
          <a:xfrm>
            <a:off x="841489" y="1051001"/>
            <a:ext cx="1046022" cy="1030401"/>
          </a:xfrm>
          <a:prstGeom prst="rect">
            <a:avLst/>
          </a:prstGeom>
        </p:spPr>
      </p:pic>
      <p:sp>
        <p:nvSpPr>
          <p:cNvPr id="4" name="TextBox 3">
            <a:extLst>
              <a:ext uri="{FF2B5EF4-FFF2-40B4-BE49-F238E27FC236}">
                <a16:creationId xmlns:a16="http://schemas.microsoft.com/office/drawing/2014/main" id="{192347F2-F53F-B258-3BED-7A2CEADDA8F3}"/>
              </a:ext>
            </a:extLst>
          </p:cNvPr>
          <p:cNvSpPr txBox="1"/>
          <p:nvPr/>
        </p:nvSpPr>
        <p:spPr>
          <a:xfrm>
            <a:off x="1524000" y="3260690"/>
            <a:ext cx="9525000" cy="3293209"/>
          </a:xfrm>
          <a:prstGeom prst="rect">
            <a:avLst/>
          </a:prstGeom>
          <a:noFill/>
        </p:spPr>
        <p:txBody>
          <a:bodyPr wrap="square" rtlCol="0">
            <a:spAutoFit/>
          </a:bodyPr>
          <a:lstStyle/>
          <a:p>
            <a:pPr algn="ctr"/>
            <a:r>
              <a:rPr lang="en-US" sz="3200" b="1" dirty="0"/>
              <a:t>Car Price Prediction </a:t>
            </a:r>
          </a:p>
          <a:p>
            <a:pPr algn="ctr"/>
            <a:r>
              <a:rPr lang="en-US" sz="2000" dirty="0"/>
              <a:t>By</a:t>
            </a:r>
          </a:p>
          <a:p>
            <a:pPr algn="ctr"/>
            <a:r>
              <a:rPr lang="en-US" sz="2000" dirty="0"/>
              <a:t>Artham Ajay(23B81A6706)</a:t>
            </a:r>
          </a:p>
          <a:p>
            <a:pPr algn="ctr"/>
            <a:r>
              <a:rPr lang="en-US" sz="2000" dirty="0" err="1"/>
              <a:t>K.Pranaydeep</a:t>
            </a:r>
            <a:r>
              <a:rPr lang="en-US" sz="2000" dirty="0"/>
              <a:t>(23B81A6727)</a:t>
            </a:r>
          </a:p>
          <a:p>
            <a:pPr algn="ctr"/>
            <a:r>
              <a:rPr lang="en-US" sz="2000" dirty="0" err="1"/>
              <a:t>M.Sanjana</a:t>
            </a:r>
            <a:r>
              <a:rPr lang="en-US" sz="2000" dirty="0"/>
              <a:t>(23B81A6745)</a:t>
            </a:r>
          </a:p>
          <a:p>
            <a:pPr algn="ctr"/>
            <a:endParaRPr lang="en-US" sz="2000" dirty="0"/>
          </a:p>
          <a:p>
            <a:pPr algn="ctr"/>
            <a:r>
              <a:rPr lang="en-US" sz="2000" dirty="0"/>
              <a:t>Under the guidance of</a:t>
            </a:r>
          </a:p>
          <a:p>
            <a:pPr algn="ctr"/>
            <a:r>
              <a:rPr lang="en-US" sz="2000" dirty="0" err="1"/>
              <a:t>Dr.S.V.Suryanarayana</a:t>
            </a:r>
            <a:r>
              <a:rPr lang="en-US" sz="2000" dirty="0"/>
              <a:t> Sir</a:t>
            </a:r>
          </a:p>
          <a:p>
            <a:pPr algn="ctr"/>
            <a:r>
              <a:rPr lang="en-US" dirty="0"/>
              <a:t>Head of the Department CSE(Data Science)</a:t>
            </a:r>
          </a:p>
          <a:p>
            <a:pPr algn="ct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9147B2-EBF5-D882-68B3-ADCEC813DCCF}"/>
              </a:ext>
            </a:extLst>
          </p:cNvPr>
          <p:cNvSpPr txBox="1"/>
          <p:nvPr/>
        </p:nvSpPr>
        <p:spPr>
          <a:xfrm>
            <a:off x="255639" y="1219200"/>
            <a:ext cx="10744200" cy="4062651"/>
          </a:xfrm>
          <a:prstGeom prst="rect">
            <a:avLst/>
          </a:prstGeom>
          <a:noFill/>
        </p:spPr>
        <p:txBody>
          <a:bodyPr wrap="square" rtlCol="0">
            <a:spAutoFit/>
          </a:bodyPr>
          <a:lstStyle/>
          <a:p>
            <a:pPr lvl="2"/>
            <a:r>
              <a:rPr lang="en-US" sz="2400" dirty="0">
                <a:latin typeface="Times New Roman" panose="02020603050405020304" pitchFamily="18" charset="0"/>
                <a:cs typeface="Times New Roman" panose="02020603050405020304" pitchFamily="18" charset="0"/>
              </a:rPr>
              <a:t>	The automotive market is dynamic, with factors like brand, year, mileage, fuel type, and technology advancements significantly influencing vehicle prices.</a:t>
            </a:r>
          </a:p>
          <a:p>
            <a:pPr lvl="2"/>
            <a:r>
              <a:rPr lang="en-US" sz="2400" dirty="0">
                <a:latin typeface="Times New Roman" panose="02020603050405020304" pitchFamily="18" charset="0"/>
                <a:cs typeface="Times New Roman" panose="02020603050405020304" pitchFamily="18" charset="0"/>
              </a:rPr>
              <a:t>Accurate car price prediction is essential for buyers, sellers, and dealerships to make informed decisions. Traditional manual estimations are often unreliable and subjective.</a:t>
            </a:r>
          </a:p>
          <a:p>
            <a:pPr lvl="2"/>
            <a:r>
              <a:rPr lang="en-US" sz="2400" dirty="0">
                <a:latin typeface="Times New Roman" panose="02020603050405020304" pitchFamily="18" charset="0"/>
                <a:cs typeface="Times New Roman" panose="02020603050405020304" pitchFamily="18" charset="0"/>
              </a:rPr>
              <a:t>	By leveraging </a:t>
            </a:r>
            <a:r>
              <a:rPr lang="en-US" sz="2400" b="1" dirty="0">
                <a:latin typeface="Times New Roman" panose="02020603050405020304" pitchFamily="18" charset="0"/>
                <a:cs typeface="Times New Roman" panose="02020603050405020304" pitchFamily="18" charset="0"/>
              </a:rPr>
              <a:t>Machine Learning (ML)</a:t>
            </a:r>
            <a:r>
              <a:rPr lang="en-US" sz="2400" dirty="0">
                <a:latin typeface="Times New Roman" panose="02020603050405020304" pitchFamily="18" charset="0"/>
                <a:cs typeface="Times New Roman" panose="02020603050405020304" pitchFamily="18" charset="0"/>
              </a:rPr>
              <a:t>, especially techniques like regression and ensemble models, we can create data-driven systems that analyze historical trends and vehicle attributes to predict prices more accurately.</a:t>
            </a:r>
          </a:p>
          <a:p>
            <a:pPr lvl="2"/>
            <a:r>
              <a:rPr lang="en-US" sz="2400" dirty="0">
                <a:latin typeface="Times New Roman" panose="02020603050405020304" pitchFamily="18" charset="0"/>
                <a:cs typeface="Times New Roman" panose="02020603050405020304" pitchFamily="18" charset="0"/>
              </a:rPr>
              <a:t>This project aims to provide a </a:t>
            </a:r>
            <a:r>
              <a:rPr lang="en-US" sz="2400" b="1" dirty="0">
                <a:latin typeface="Times New Roman" panose="02020603050405020304" pitchFamily="18" charset="0"/>
                <a:cs typeface="Times New Roman" panose="02020603050405020304" pitchFamily="18" charset="0"/>
              </a:rPr>
              <a:t>fast, efficient, and transparent</a:t>
            </a:r>
            <a:r>
              <a:rPr lang="en-US" sz="2400" dirty="0">
                <a:latin typeface="Times New Roman" panose="02020603050405020304" pitchFamily="18" charset="0"/>
                <a:cs typeface="Times New Roman" panose="02020603050405020304" pitchFamily="18" charset="0"/>
              </a:rPr>
              <a:t> method of estimating car values, ultimately improving trust, efficiency, and stability in the used car market</a:t>
            </a:r>
            <a:r>
              <a:rPr lang="en-US" sz="2400" dirty="0"/>
              <a:t>.</a:t>
            </a:r>
          </a:p>
          <a:p>
            <a:endParaRPr lang="en-IN" dirty="0"/>
          </a:p>
        </p:txBody>
      </p:sp>
      <p:sp>
        <p:nvSpPr>
          <p:cNvPr id="4" name="TextBox 3">
            <a:extLst>
              <a:ext uri="{FF2B5EF4-FFF2-40B4-BE49-F238E27FC236}">
                <a16:creationId xmlns:a16="http://schemas.microsoft.com/office/drawing/2014/main" id="{08F347E0-92E0-0C64-9BC6-EAD9416E0346}"/>
              </a:ext>
            </a:extLst>
          </p:cNvPr>
          <p:cNvSpPr txBox="1"/>
          <p:nvPr/>
        </p:nvSpPr>
        <p:spPr>
          <a:xfrm>
            <a:off x="228600" y="413266"/>
            <a:ext cx="1127760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Domain Introduction</a:t>
            </a:r>
            <a:r>
              <a:rPr lang="en-IN"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09645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CE7D4EA-A2D6-1D38-6BE7-0379155E1CE1}"/>
              </a:ext>
            </a:extLst>
          </p:cNvPr>
          <p:cNvSpPr txBox="1"/>
          <p:nvPr/>
        </p:nvSpPr>
        <p:spPr>
          <a:xfrm>
            <a:off x="228600" y="304800"/>
            <a:ext cx="11277600" cy="5232202"/>
          </a:xfrm>
          <a:prstGeom prst="rect">
            <a:avLst/>
          </a:prstGeom>
          <a:noFill/>
        </p:spPr>
        <p:txBody>
          <a:bodyPr wrap="square" rtlCol="0">
            <a:spAutoFit/>
          </a:bodyPr>
          <a:lstStyle/>
          <a:p>
            <a:pPr>
              <a:buNone/>
            </a:pPr>
            <a:r>
              <a:rPr lang="en-US" sz="2400" b="1" dirty="0">
                <a:latin typeface="Times New Roman" panose="02020603050405020304" pitchFamily="18" charset="0"/>
                <a:cs typeface="Times New Roman" panose="02020603050405020304" pitchFamily="18" charset="0"/>
              </a:rPr>
              <a:t>Challenges: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Car prices depend on multiple dynamic factors such as brand, model, mileage, fuel type, vehicle age, transmission, etc.</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Capturing complex, non-linear relationships between these features is difficult.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manual methods for car valuation are inaccurate and subjective.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Need for a predictive model that generalizes well to unseen data while maintaining high accuracy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robust predictive model using machine learning, specifically the Random Forest Regressor, to estimate the selling price of used cars based on multiple vehicle attributes.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create a system that delivers accurate, reliable, and data-driven car price predictions to assist both buyers and sellers, enhancing transparency and efficiency in the automotive market.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2153" y="609601"/>
            <a:ext cx="10615295" cy="5908669"/>
          </a:xfrm>
          <a:prstGeom prst="rect">
            <a:avLst/>
          </a:prstGeom>
        </p:spPr>
        <p:txBody>
          <a:bodyPr vert="horz" wrap="square" lIns="0" tIns="60325" rIns="0" bIns="0" rtlCol="0">
            <a:spAutoFit/>
          </a:bodyPr>
          <a:lstStyle/>
          <a:p>
            <a:pPr>
              <a:buNone/>
            </a:pPr>
            <a:r>
              <a:rPr lang="en-IN" sz="2000" b="1" dirty="0"/>
              <a:t>1. </a:t>
            </a:r>
            <a:r>
              <a:rPr lang="en-IN" sz="2000" b="1" dirty="0" err="1"/>
              <a:t>CarDekho</a:t>
            </a:r>
            <a:r>
              <a:rPr lang="en-IN" sz="2000" b="1" dirty="0"/>
              <a:t> Dataset Approach</a:t>
            </a:r>
          </a:p>
          <a:p>
            <a:pPr lvl="5">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Provides detailed car information: brand, model, year, mileage, fuel type, seller type, etc.</a:t>
            </a:r>
          </a:p>
          <a:p>
            <a:pPr lvl="3">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Machine Learning techniques applied:</a:t>
            </a:r>
          </a:p>
          <a:p>
            <a:pPr marL="742950" lvl="4"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Regression Analysis</a:t>
            </a:r>
          </a:p>
          <a:p>
            <a:pPr marL="742950" lvl="4"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Decision Trees</a:t>
            </a:r>
          </a:p>
          <a:p>
            <a:pPr marL="742950" lvl="4"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Ensemble Methods</a:t>
            </a:r>
          </a:p>
          <a:p>
            <a:pPr lvl="3">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Limitations:</a:t>
            </a:r>
          </a:p>
          <a:p>
            <a:pPr marL="742950" lvl="4"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 quality issues (missing/inaccurate features)</a:t>
            </a:r>
          </a:p>
          <a:p>
            <a:pPr marL="742950" lvl="4"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Cannot always capture sudden market trends</a:t>
            </a:r>
          </a:p>
          <a:p>
            <a:pPr marL="742950" lvl="4"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to used car data</a:t>
            </a:r>
          </a:p>
          <a:p>
            <a:pPr>
              <a:buNone/>
            </a:pPr>
            <a:r>
              <a:rPr lang="en-IN" sz="2000" b="1" dirty="0"/>
              <a:t>2. CARS24 Platform Approach</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massive transaction datasets including car details, ownership, location, insurance status, etc.</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Advanced models used:</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Random Forests</a:t>
            </a:r>
          </a:p>
          <a:p>
            <a:pPr marL="742950" lvl="1"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XGBoost</a:t>
            </a:r>
            <a:endParaRPr lang="en-IN"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CatBoost</a:t>
            </a:r>
            <a:endParaRPr lang="en-IN"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Additional Innovations:</a:t>
            </a:r>
          </a:p>
          <a:p>
            <a:pPr marL="742950" lvl="1"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Computer Vision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uploaded car images to detect damages</a:t>
            </a:r>
          </a:p>
          <a:p>
            <a:pPr marL="742950" lvl="1"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NLP Techniques</a:t>
            </a:r>
            <a:r>
              <a:rPr lang="en-IN" sz="1600" dirty="0">
                <a:latin typeface="Times New Roman" panose="02020603050405020304" pitchFamily="18" charset="0"/>
                <a:cs typeface="Times New Roman" panose="02020603050405020304" pitchFamily="18" charset="0"/>
              </a:rPr>
              <a:t>: Extracts insights from seller descriptions and comments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Limitation:</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Black-box nature of complex models reduces interpretability for customers</a:t>
            </a:r>
          </a:p>
          <a:p>
            <a:pPr marL="457200" lvl="1"/>
            <a:endParaRPr lang="en-IN" dirty="0"/>
          </a:p>
          <a:p>
            <a:pPr marL="742950" lvl="1" indent="-285750">
              <a:buFont typeface="Arial" panose="020B0604020202020204" pitchFamily="34" charset="0"/>
              <a:buChar char="•"/>
            </a:pPr>
            <a:endParaRPr lang="en-IN" dirty="0"/>
          </a:p>
        </p:txBody>
      </p:sp>
      <p:sp>
        <p:nvSpPr>
          <p:cNvPr id="6" name="TextBox 5">
            <a:extLst>
              <a:ext uri="{FF2B5EF4-FFF2-40B4-BE49-F238E27FC236}">
                <a16:creationId xmlns:a16="http://schemas.microsoft.com/office/drawing/2014/main" id="{79D935EA-51AE-7DE7-4E41-B51F4887F890}"/>
              </a:ext>
            </a:extLst>
          </p:cNvPr>
          <p:cNvSpPr txBox="1"/>
          <p:nvPr/>
        </p:nvSpPr>
        <p:spPr>
          <a:xfrm>
            <a:off x="152400" y="154858"/>
            <a:ext cx="118110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Existing Works/Methods And challenges</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094EEF8-38CD-F3FE-B84F-9F629CEB0EA5}"/>
              </a:ext>
            </a:extLst>
          </p:cNvPr>
          <p:cNvSpPr txBox="1"/>
          <p:nvPr/>
        </p:nvSpPr>
        <p:spPr>
          <a:xfrm>
            <a:off x="152400" y="228600"/>
            <a:ext cx="11277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Proposed Method:</a:t>
            </a:r>
            <a:endParaRPr lang="en-IN" sz="32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DC2B3CD-D6F5-0BF0-F826-1D0F2C27D80D}"/>
              </a:ext>
            </a:extLst>
          </p:cNvPr>
          <p:cNvSpPr txBox="1"/>
          <p:nvPr/>
        </p:nvSpPr>
        <p:spPr>
          <a:xfrm>
            <a:off x="349045" y="813375"/>
            <a:ext cx="11430000" cy="5160387"/>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Description:</a:t>
            </a:r>
          </a:p>
          <a:p>
            <a:r>
              <a:rPr lang="en-IN"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a:t>
            </a:r>
            <a:r>
              <a:rPr lang="en-US" sz="2000" dirty="0">
                <a:solidFill>
                  <a:srgbClr val="212121"/>
                </a:solidFill>
                <a:latin typeface="Times New Roman" panose="02020603050405020304" pitchFamily="18" charset="0"/>
                <a:cs typeface="Times New Roman" panose="02020603050405020304" pitchFamily="18" charset="0"/>
              </a:rPr>
              <a:t>proposed</a:t>
            </a:r>
            <a:r>
              <a:rPr lang="en-US" sz="2000" spc="-5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system</a:t>
            </a:r>
            <a:r>
              <a:rPr lang="en-US" sz="2000" spc="-5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will</a:t>
            </a:r>
            <a:r>
              <a:rPr lang="en-US" sz="2000" spc="-1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use</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machine</a:t>
            </a:r>
            <a:r>
              <a:rPr lang="en-US" sz="2000" spc="-4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learning</a:t>
            </a:r>
            <a:r>
              <a:rPr lang="en-US" sz="2000" spc="-4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algorithms</a:t>
            </a:r>
            <a:r>
              <a:rPr lang="en-US" sz="2000" spc="-4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to</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analyze</a:t>
            </a:r>
            <a:r>
              <a:rPr lang="en-US" sz="2000" spc="-3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historical</a:t>
            </a:r>
            <a:r>
              <a:rPr lang="en-US" sz="2000" spc="-5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car</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sales</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spc="-20" dirty="0">
                <a:solidFill>
                  <a:srgbClr val="212121"/>
                </a:solidFill>
                <a:latin typeface="Times New Roman" panose="02020603050405020304" pitchFamily="18" charset="0"/>
                <a:cs typeface="Times New Roman" panose="02020603050405020304" pitchFamily="18" charset="0"/>
              </a:rPr>
              <a:t>data</a:t>
            </a:r>
            <a:r>
              <a:rPr lang="en-US" sz="2000" spc="50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and</a:t>
            </a:r>
            <a:r>
              <a:rPr lang="en-US" sz="2000" spc="-3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predict</a:t>
            </a:r>
            <a:r>
              <a:rPr lang="en-US" sz="2000" spc="-5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prices</a:t>
            </a:r>
            <a:r>
              <a:rPr lang="en-US" sz="2000" spc="-4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for</a:t>
            </a:r>
            <a:r>
              <a:rPr lang="en-US" sz="2000" spc="-3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used</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cars.</a:t>
            </a:r>
            <a:r>
              <a:rPr lang="en-US" sz="2000" spc="-8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The</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system</a:t>
            </a:r>
            <a:r>
              <a:rPr lang="en-US" sz="2000" spc="-4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will</a:t>
            </a:r>
            <a:r>
              <a:rPr lang="en-US" sz="2000" spc="-1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be</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trained</a:t>
            </a:r>
            <a:r>
              <a:rPr lang="en-US" sz="2000" spc="-4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using</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structured</a:t>
            </a:r>
            <a:r>
              <a:rPr lang="en-US" sz="2000" spc="-6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datasets</a:t>
            </a:r>
            <a:r>
              <a:rPr lang="en-US" sz="2000" spc="-50" dirty="0">
                <a:solidFill>
                  <a:srgbClr val="212121"/>
                </a:solidFill>
                <a:latin typeface="Times New Roman" panose="02020603050405020304" pitchFamily="18" charset="0"/>
                <a:cs typeface="Times New Roman" panose="02020603050405020304" pitchFamily="18" charset="0"/>
              </a:rPr>
              <a:t> </a:t>
            </a:r>
            <a:r>
              <a:rPr lang="en-US" sz="2000" spc="-10" dirty="0">
                <a:solidFill>
                  <a:srgbClr val="212121"/>
                </a:solidFill>
                <a:latin typeface="Times New Roman" panose="02020603050405020304" pitchFamily="18" charset="0"/>
                <a:cs typeface="Times New Roman" panose="02020603050405020304" pitchFamily="18" charset="0"/>
              </a:rPr>
              <a:t>containing </a:t>
            </a:r>
            <a:r>
              <a:rPr lang="en-US" sz="2000" dirty="0">
                <a:solidFill>
                  <a:srgbClr val="212121"/>
                </a:solidFill>
                <a:latin typeface="Times New Roman" panose="02020603050405020304" pitchFamily="18" charset="0"/>
                <a:cs typeface="Times New Roman" panose="02020603050405020304" pitchFamily="18" charset="0"/>
              </a:rPr>
              <a:t>various</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car</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attributes,</a:t>
            </a:r>
            <a:r>
              <a:rPr lang="en-US" sz="2000" spc="-5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and</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it</a:t>
            </a:r>
            <a:r>
              <a:rPr lang="en-US" sz="2000" spc="-1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will</a:t>
            </a:r>
            <a:r>
              <a:rPr lang="en-US" sz="2000" spc="-1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be</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capable</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of</a:t>
            </a:r>
            <a:r>
              <a:rPr lang="en-US" sz="2000" spc="-2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making</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accurate</a:t>
            </a:r>
            <a:r>
              <a:rPr lang="en-US" sz="2000" spc="-6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predictions</a:t>
            </a:r>
            <a:r>
              <a:rPr lang="en-US" sz="2000" spc="-5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for</a:t>
            </a:r>
            <a:r>
              <a:rPr lang="en-US" sz="2000" spc="-2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unseen</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spc="-10" dirty="0">
                <a:solidFill>
                  <a:srgbClr val="212121"/>
                </a:solidFill>
                <a:latin typeface="Times New Roman" panose="02020603050405020304" pitchFamily="18" charset="0"/>
                <a:cs typeface="Times New Roman" panose="02020603050405020304" pitchFamily="18" charset="0"/>
              </a:rPr>
              <a:t>data.</a:t>
            </a:r>
            <a:endParaRPr lang="en-US" sz="2000"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r>
              <a:rPr lang="en-IN" sz="1800" b="1" spc="-5" dirty="0">
                <a:latin typeface="Times New Roman" panose="02020603050405020304" pitchFamily="18" charset="0"/>
                <a:cs typeface="Times New Roman" panose="02020603050405020304" pitchFamily="18" charset="0"/>
              </a:rPr>
              <a:t>List </a:t>
            </a:r>
            <a:r>
              <a:rPr lang="en-IN" sz="1800" b="1" dirty="0">
                <a:latin typeface="Times New Roman" panose="02020603050405020304" pitchFamily="18" charset="0"/>
                <a:cs typeface="Times New Roman" panose="02020603050405020304" pitchFamily="18" charset="0"/>
              </a:rPr>
              <a:t>of</a:t>
            </a:r>
            <a:r>
              <a:rPr lang="en-IN" sz="1800" b="1" spc="-15" dirty="0">
                <a:latin typeface="Times New Roman" panose="02020603050405020304" pitchFamily="18" charset="0"/>
                <a:cs typeface="Times New Roman" panose="02020603050405020304" pitchFamily="18" charset="0"/>
              </a:rPr>
              <a:t> </a:t>
            </a:r>
            <a:r>
              <a:rPr lang="en-IN" sz="1800" b="1" spc="-5" dirty="0">
                <a:latin typeface="Times New Roman" panose="02020603050405020304" pitchFamily="18" charset="0"/>
                <a:cs typeface="Times New Roman" panose="02020603050405020304" pitchFamily="18" charset="0"/>
              </a:rPr>
              <a:t>Modules/Features:</a:t>
            </a:r>
          </a:p>
          <a:p>
            <a:endParaRPr lang="en-IN" b="1" spc="-5"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Data</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Col</a:t>
            </a:r>
            <a:r>
              <a:rPr lang="en-US" sz="2000" spc="-10" dirty="0">
                <a:latin typeface="Times New Roman" panose="02020603050405020304" pitchFamily="18" charset="0"/>
                <a:cs typeface="Times New Roman" panose="02020603050405020304" pitchFamily="18" charset="0"/>
              </a:rPr>
              <a:t>l</a:t>
            </a:r>
            <a:r>
              <a:rPr lang="en-US" sz="2000" dirty="0">
                <a:latin typeface="Times New Roman" panose="02020603050405020304" pitchFamily="18" charset="0"/>
                <a:cs typeface="Times New Roman" panose="02020603050405020304" pitchFamily="18" charset="0"/>
              </a:rPr>
              <a:t>ec</a:t>
            </a:r>
            <a:r>
              <a:rPr lang="en-US" sz="2000" spc="-10"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io</a:t>
            </a:r>
            <a:r>
              <a:rPr lang="en-US" sz="2000" spc="5"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a:t>
            </a:r>
            <a:r>
              <a:rPr lang="en-US" sz="2000" spc="-5" dirty="0">
                <a:latin typeface="Times New Roman" panose="02020603050405020304" pitchFamily="18" charset="0"/>
                <a:cs typeface="Times New Roman" panose="02020603050405020304" pitchFamily="18" charset="0"/>
              </a:rPr>
              <a:t>collecting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dataset</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t>
            </a:r>
            <a:r>
              <a:rPr lang="en-US" sz="2000" spc="5"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om</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Ka</a:t>
            </a:r>
            <a:r>
              <a:rPr lang="en-US" sz="2000" spc="5" dirty="0">
                <a:latin typeface="Times New Roman" panose="02020603050405020304" pitchFamily="18" charset="0"/>
                <a:cs typeface="Times New Roman" panose="02020603050405020304" pitchFamily="18" charset="0"/>
              </a:rPr>
              <a:t>g</a:t>
            </a:r>
            <a:r>
              <a:rPr lang="en-US" sz="2000" dirty="0">
                <a:latin typeface="Times New Roman" panose="02020603050405020304" pitchFamily="18" charset="0"/>
                <a:cs typeface="Times New Roman" panose="02020603050405020304" pitchFamily="18" charset="0"/>
              </a:rPr>
              <a:t>gle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Data</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
            </a:r>
            <a:r>
              <a:rPr lang="en-US" sz="2000" spc="5"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ep</a:t>
            </a:r>
            <a:r>
              <a:rPr lang="en-US" sz="2000" spc="5"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oce</a:t>
            </a:r>
            <a:r>
              <a:rPr lang="en-US" sz="2000" spc="-10" dirty="0">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si</a:t>
            </a:r>
            <a:r>
              <a:rPr lang="en-US" sz="2000" spc="-10"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g</a:t>
            </a:r>
            <a:r>
              <a:rPr lang="en-US" sz="2000" spc="-1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f</a:t>
            </a:r>
            <a:r>
              <a:rPr lang="en-US" sz="2000" spc="-15" dirty="0">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ndi</a:t>
            </a:r>
            <a:r>
              <a:rPr lang="en-US" sz="2000" spc="-15"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m</a:t>
            </a:r>
            <a:r>
              <a:rPr lang="en-US" sz="2000" dirty="0">
                <a:latin typeface="Times New Roman" panose="02020603050405020304" pitchFamily="18" charset="0"/>
                <a:cs typeface="Times New Roman" panose="02020603050405020304" pitchFamily="18" charset="0"/>
              </a:rPr>
              <a:t>iss</a:t>
            </a:r>
            <a:r>
              <a:rPr lang="en-US" sz="2000" spc="-10" dirty="0">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ng</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values</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filling</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them</a:t>
            </a:r>
            <a:r>
              <a:rPr lang="en-US" sz="2000" spc="-25" dirty="0">
                <a:latin typeface="Times New Roman" panose="02020603050405020304" pitchFamily="18" charset="0"/>
                <a:cs typeface="Times New Roman" panose="02020603050405020304" pitchFamily="18" charset="0"/>
              </a:rPr>
              <a:t> </a:t>
            </a:r>
            <a:r>
              <a:rPr lang="en-US" sz="2000" spc="-5" dirty="0">
                <a:latin typeface="Times New Roman" panose="02020603050405020304" pitchFamily="18" charset="0"/>
                <a:cs typeface="Times New Roman" panose="02020603050405020304" pitchFamily="18" charset="0"/>
              </a:rPr>
              <a:t>with</a:t>
            </a:r>
            <a:r>
              <a:rPr lang="en-US" sz="2000" spc="15" dirty="0">
                <a:latin typeface="Times New Roman" panose="02020603050405020304" pitchFamily="18" charset="0"/>
                <a:cs typeface="Times New Roman" panose="02020603050405020304" pitchFamily="18" charset="0"/>
              </a:rPr>
              <a:t> </a:t>
            </a:r>
            <a:r>
              <a:rPr lang="en-US" sz="2000" spc="-25" dirty="0" err="1">
                <a:latin typeface="Times New Roman" panose="02020603050405020304" pitchFamily="18" charset="0"/>
                <a:cs typeface="Times New Roman" panose="02020603050405020304" pitchFamily="18" charset="0"/>
              </a:rPr>
              <a:t>m</a:t>
            </a:r>
            <a:r>
              <a:rPr lang="en-US" sz="2000" dirty="0" err="1">
                <a:latin typeface="Times New Roman" panose="02020603050405020304" pitchFamily="18" charset="0"/>
                <a:cs typeface="Times New Roman" panose="02020603050405020304" pitchFamily="18" charset="0"/>
              </a:rPr>
              <a:t>ean,</a:t>
            </a:r>
            <a:r>
              <a:rPr lang="en-US" sz="2000" spc="-20" dirty="0" err="1">
                <a:latin typeface="Times New Roman" panose="02020603050405020304" pitchFamily="18" charset="0"/>
                <a:cs typeface="Times New Roman" panose="02020603050405020304" pitchFamily="18" charset="0"/>
              </a:rPr>
              <a:t>m</a:t>
            </a:r>
            <a:r>
              <a:rPr lang="en-US" sz="2000" dirty="0" err="1">
                <a:latin typeface="Times New Roman" panose="02020603050405020304" pitchFamily="18" charset="0"/>
                <a:cs typeface="Times New Roman" panose="02020603050405020304" pitchFamily="18" charset="0"/>
              </a:rPr>
              <a:t>o</a:t>
            </a:r>
            <a:r>
              <a:rPr lang="en-US" sz="2000" spc="10" dirty="0" err="1">
                <a:latin typeface="Times New Roman" panose="02020603050405020304" pitchFamily="18" charset="0"/>
                <a:cs typeface="Times New Roman" panose="02020603050405020304" pitchFamily="18" charset="0"/>
              </a:rPr>
              <a:t>d</a:t>
            </a:r>
            <a:r>
              <a:rPr lang="en-US" sz="2000" dirty="0" err="1">
                <a:latin typeface="Times New Roman" panose="02020603050405020304" pitchFamily="18" charset="0"/>
                <a:cs typeface="Times New Roman" panose="02020603050405020304" pitchFamily="18" charset="0"/>
              </a:rPr>
              <a:t>e</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5"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d</a:t>
            </a:r>
            <a:r>
              <a:rPr lang="en-US" sz="2000" spc="-5"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m</a:t>
            </a:r>
            <a:r>
              <a:rPr lang="en-US" sz="2000" dirty="0">
                <a:latin typeface="Times New Roman" panose="02020603050405020304" pitchFamily="18" charset="0"/>
                <a:cs typeface="Times New Roman" panose="02020603050405020304" pitchFamily="18" charset="0"/>
              </a:rPr>
              <a:t>e</a:t>
            </a:r>
            <a:r>
              <a:rPr lang="en-US" sz="2000" spc="5" dirty="0">
                <a:latin typeface="Times New Roman" panose="02020603050405020304" pitchFamily="18" charset="0"/>
                <a:cs typeface="Times New Roman" panose="02020603050405020304" pitchFamily="18" charset="0"/>
              </a:rPr>
              <a:t>d</a:t>
            </a:r>
            <a:r>
              <a:rPr lang="en-US" sz="2000" dirty="0">
                <a:latin typeface="Times New Roman" panose="02020603050405020304" pitchFamily="18" charset="0"/>
                <a:cs typeface="Times New Roman" panose="02020603050405020304" pitchFamily="18" charset="0"/>
              </a:rPr>
              <a:t>ian of</a:t>
            </a:r>
            <a:r>
              <a:rPr lang="en-US" sz="2000" spc="-15" dirty="0">
                <a:latin typeface="Times New Roman" panose="02020603050405020304" pitchFamily="18" charset="0"/>
                <a:cs typeface="Times New Roman" panose="02020603050405020304" pitchFamily="18" charset="0"/>
              </a:rPr>
              <a:t> </a:t>
            </a:r>
            <a:r>
              <a:rPr lang="en-US" sz="2000" spc="5" dirty="0">
                <a:latin typeface="Times New Roman" panose="02020603050405020304" pitchFamily="18" charset="0"/>
                <a:cs typeface="Times New Roman" panose="02020603050405020304" pitchFamily="18" charset="0"/>
              </a:rPr>
              <a:t>f</a:t>
            </a:r>
            <a:r>
              <a:rPr lang="en-US" sz="2000" dirty="0">
                <a:latin typeface="Times New Roman" panose="02020603050405020304" pitchFamily="18" charset="0"/>
                <a:cs typeface="Times New Roman" panose="02020603050405020304" pitchFamily="18" charset="0"/>
              </a:rPr>
              <a:t>eatu</a:t>
            </a:r>
            <a:r>
              <a:rPr lang="en-US" sz="2000" spc="10"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es</a:t>
            </a:r>
          </a:p>
          <a:p>
            <a:pPr marL="285750" indent="-285750">
              <a:buFont typeface="Arial" panose="020B0604020202020204" pitchFamily="34" charset="0"/>
              <a:buChar char="•"/>
            </a:pPr>
            <a:r>
              <a:rPr lang="en-IN" sz="2000" dirty="0">
                <a:solidFill>
                  <a:srgbClr val="212121"/>
                </a:solidFill>
                <a:latin typeface="Times New Roman" panose="02020603050405020304" pitchFamily="18" charset="0"/>
                <a:cs typeface="Times New Roman" panose="02020603050405020304" pitchFamily="18" charset="0"/>
              </a:rPr>
              <a:t> E</a:t>
            </a:r>
            <a:r>
              <a:rPr lang="en-IN" sz="2000" spc="-10" dirty="0">
                <a:solidFill>
                  <a:srgbClr val="212121"/>
                </a:solidFill>
                <a:latin typeface="Times New Roman" panose="02020603050405020304" pitchFamily="18" charset="0"/>
                <a:cs typeface="Times New Roman" panose="02020603050405020304" pitchFamily="18" charset="0"/>
              </a:rPr>
              <a:t>x</a:t>
            </a:r>
            <a:r>
              <a:rPr lang="en-IN" sz="2000" dirty="0">
                <a:solidFill>
                  <a:srgbClr val="212121"/>
                </a:solidFill>
                <a:latin typeface="Times New Roman" panose="02020603050405020304" pitchFamily="18" charset="0"/>
                <a:cs typeface="Times New Roman" panose="02020603050405020304" pitchFamily="18" charset="0"/>
              </a:rPr>
              <a:t>plo</a:t>
            </a:r>
            <a:r>
              <a:rPr lang="en-IN" sz="2000" spc="5" dirty="0">
                <a:solidFill>
                  <a:srgbClr val="212121"/>
                </a:solidFill>
                <a:latin typeface="Times New Roman" panose="02020603050405020304" pitchFamily="18" charset="0"/>
                <a:cs typeface="Times New Roman" panose="02020603050405020304" pitchFamily="18" charset="0"/>
              </a:rPr>
              <a:t>r</a:t>
            </a:r>
            <a:r>
              <a:rPr lang="en-IN" sz="2000" dirty="0">
                <a:solidFill>
                  <a:srgbClr val="212121"/>
                </a:solidFill>
                <a:latin typeface="Times New Roman" panose="02020603050405020304" pitchFamily="18" charset="0"/>
                <a:cs typeface="Times New Roman" panose="02020603050405020304" pitchFamily="18" charset="0"/>
              </a:rPr>
              <a:t>atory</a:t>
            </a:r>
            <a:r>
              <a:rPr lang="en-IN" sz="2000" spc="-20" dirty="0">
                <a:solidFill>
                  <a:srgbClr val="212121"/>
                </a:solidFill>
                <a:latin typeface="Times New Roman" panose="02020603050405020304" pitchFamily="18" charset="0"/>
                <a:cs typeface="Times New Roman" panose="02020603050405020304" pitchFamily="18" charset="0"/>
              </a:rPr>
              <a:t> </a:t>
            </a:r>
            <a:r>
              <a:rPr lang="en-IN" sz="2000" spc="-10" dirty="0">
                <a:solidFill>
                  <a:srgbClr val="212121"/>
                </a:solidFill>
                <a:latin typeface="Times New Roman" panose="02020603050405020304" pitchFamily="18" charset="0"/>
                <a:cs typeface="Times New Roman" panose="02020603050405020304" pitchFamily="18" charset="0"/>
              </a:rPr>
              <a:t>Data</a:t>
            </a:r>
            <a:r>
              <a:rPr lang="en-IN" sz="2000" spc="-140" dirty="0">
                <a:solidFill>
                  <a:srgbClr val="212121"/>
                </a:solidFill>
                <a:latin typeface="Times New Roman" panose="02020603050405020304" pitchFamily="18" charset="0"/>
                <a:cs typeface="Times New Roman" panose="02020603050405020304" pitchFamily="18" charset="0"/>
              </a:rPr>
              <a:t> </a:t>
            </a:r>
            <a:r>
              <a:rPr lang="en-IN" sz="2000" spc="-5" dirty="0">
                <a:solidFill>
                  <a:srgbClr val="212121"/>
                </a:solidFill>
                <a:latin typeface="Times New Roman" panose="02020603050405020304" pitchFamily="18" charset="0"/>
                <a:cs typeface="Times New Roman" panose="02020603050405020304" pitchFamily="18" charset="0"/>
              </a:rPr>
              <a:t>Analysis</a:t>
            </a:r>
            <a:r>
              <a:rPr lang="en-IN" sz="2000" spc="10" dirty="0">
                <a:solidFill>
                  <a:srgbClr val="212121"/>
                </a:solidFill>
                <a:latin typeface="Times New Roman" panose="02020603050405020304" pitchFamily="18" charset="0"/>
                <a:cs typeface="Times New Roman" panose="02020603050405020304" pitchFamily="18" charset="0"/>
              </a:rPr>
              <a:t> </a:t>
            </a:r>
            <a:r>
              <a:rPr lang="en-IN" sz="2000" dirty="0">
                <a:solidFill>
                  <a:srgbClr val="212121"/>
                </a:solidFill>
                <a:latin typeface="Times New Roman" panose="02020603050405020304" pitchFamily="18" charset="0"/>
                <a:cs typeface="Times New Roman" panose="02020603050405020304" pitchFamily="18" charset="0"/>
              </a:rPr>
              <a:t>(EDA</a:t>
            </a:r>
            <a:r>
              <a:rPr lang="en-IN" sz="2000" spc="5" dirty="0">
                <a:solidFill>
                  <a:srgbClr val="212121"/>
                </a:solidFill>
                <a:latin typeface="Times New Roman" panose="02020603050405020304" pitchFamily="18" charset="0"/>
                <a:cs typeface="Times New Roman" panose="02020603050405020304" pitchFamily="18" charset="0"/>
              </a:rPr>
              <a:t>)</a:t>
            </a:r>
            <a:r>
              <a:rPr lang="en-IN" sz="2000" dirty="0">
                <a:solidFill>
                  <a:srgbClr val="212121"/>
                </a:solidFill>
                <a:latin typeface="Times New Roman" panose="02020603050405020304" pitchFamily="18" charset="0"/>
                <a:cs typeface="Times New Roman" panose="02020603050405020304" pitchFamily="18" charset="0"/>
              </a:rPr>
              <a:t>-u</a:t>
            </a:r>
            <a:r>
              <a:rPr lang="en-IN" sz="2000" spc="5" dirty="0">
                <a:solidFill>
                  <a:srgbClr val="212121"/>
                </a:solidFill>
                <a:latin typeface="Times New Roman" panose="02020603050405020304" pitchFamily="18" charset="0"/>
                <a:cs typeface="Times New Roman" panose="02020603050405020304" pitchFamily="18" charset="0"/>
              </a:rPr>
              <a:t>s</a:t>
            </a:r>
            <a:r>
              <a:rPr lang="en-IN" sz="2000" dirty="0">
                <a:solidFill>
                  <a:srgbClr val="212121"/>
                </a:solidFill>
                <a:latin typeface="Times New Roman" panose="02020603050405020304" pitchFamily="18" charset="0"/>
                <a:cs typeface="Times New Roman" panose="02020603050405020304" pitchFamily="18" charset="0"/>
              </a:rPr>
              <a:t>er</a:t>
            </a:r>
            <a:r>
              <a:rPr lang="en-IN" sz="2000" spc="-45" dirty="0">
                <a:solidFill>
                  <a:srgbClr val="212121"/>
                </a:solidFill>
                <a:latin typeface="Times New Roman" panose="02020603050405020304" pitchFamily="18" charset="0"/>
                <a:cs typeface="Times New Roman" panose="02020603050405020304" pitchFamily="18" charset="0"/>
              </a:rPr>
              <a:t> </a:t>
            </a:r>
            <a:r>
              <a:rPr lang="en-IN" sz="2000" dirty="0">
                <a:solidFill>
                  <a:srgbClr val="212121"/>
                </a:solidFill>
                <a:latin typeface="Times New Roman" panose="02020603050405020304" pitchFamily="18" charset="0"/>
                <a:cs typeface="Times New Roman" panose="02020603050405020304" pitchFamily="18" charset="0"/>
              </a:rPr>
              <a:t>for</a:t>
            </a:r>
            <a:r>
              <a:rPr lang="en-IN" sz="2000" spc="-15" dirty="0">
                <a:solidFill>
                  <a:srgbClr val="212121"/>
                </a:solidFill>
                <a:latin typeface="Times New Roman" panose="02020603050405020304" pitchFamily="18" charset="0"/>
                <a:cs typeface="Times New Roman" panose="02020603050405020304" pitchFamily="18" charset="0"/>
              </a:rPr>
              <a:t> </a:t>
            </a:r>
            <a:r>
              <a:rPr lang="en-IN" sz="2000" spc="-5" dirty="0">
                <a:solidFill>
                  <a:srgbClr val="212121"/>
                </a:solidFill>
                <a:latin typeface="Times New Roman" panose="02020603050405020304" pitchFamily="18" charset="0"/>
                <a:cs typeface="Times New Roman" panose="02020603050405020304" pitchFamily="18" charset="0"/>
              </a:rPr>
              <a:t>dat</a:t>
            </a:r>
            <a:r>
              <a:rPr lang="en-IN" sz="2000" dirty="0">
                <a:solidFill>
                  <a:srgbClr val="212121"/>
                </a:solidFill>
                <a:latin typeface="Times New Roman" panose="02020603050405020304" pitchFamily="18" charset="0"/>
                <a:cs typeface="Times New Roman" panose="02020603050405020304" pitchFamily="18" charset="0"/>
              </a:rPr>
              <a:t>a</a:t>
            </a:r>
            <a:r>
              <a:rPr lang="en-IN" sz="2000" spc="-15" dirty="0">
                <a:solidFill>
                  <a:srgbClr val="212121"/>
                </a:solidFill>
                <a:latin typeface="Times New Roman" panose="02020603050405020304" pitchFamily="18" charset="0"/>
                <a:cs typeface="Times New Roman" panose="02020603050405020304" pitchFamily="18" charset="0"/>
              </a:rPr>
              <a:t> </a:t>
            </a:r>
            <a:r>
              <a:rPr lang="en-IN" sz="2000" spc="-10" dirty="0">
                <a:solidFill>
                  <a:srgbClr val="212121"/>
                </a:solidFill>
                <a:latin typeface="Times New Roman" panose="02020603050405020304" pitchFamily="18" charset="0"/>
                <a:cs typeface="Times New Roman" panose="02020603050405020304" pitchFamily="18" charset="0"/>
              </a:rPr>
              <a:t>visualization</a:t>
            </a:r>
          </a:p>
          <a:p>
            <a:pPr marL="298450" indent="-285750">
              <a:lnSpc>
                <a:spcPct val="100000"/>
              </a:lnSpc>
              <a:spcBef>
                <a:spcPts val="409"/>
              </a:spcBef>
              <a:buFont typeface="Arial" panose="020B0604020202020204" pitchFamily="34" charset="0"/>
              <a:buChar char="•"/>
              <a:tabLst>
                <a:tab pos="268605" algn="l"/>
              </a:tabLst>
            </a:pPr>
            <a:r>
              <a:rPr lang="en-US" sz="2000" spc="-5" dirty="0">
                <a:solidFill>
                  <a:srgbClr val="212121"/>
                </a:solidFill>
                <a:latin typeface="Times New Roman" panose="02020603050405020304" pitchFamily="18" charset="0"/>
                <a:cs typeface="Times New Roman" panose="02020603050405020304" pitchFamily="18" charset="0"/>
              </a:rPr>
              <a:t> Mode</a:t>
            </a:r>
            <a:r>
              <a:rPr lang="en-US" sz="2000" dirty="0">
                <a:solidFill>
                  <a:srgbClr val="212121"/>
                </a:solidFill>
                <a:latin typeface="Times New Roman" panose="02020603050405020304" pitchFamily="18" charset="0"/>
                <a:cs typeface="Times New Roman" panose="02020603050405020304" pitchFamily="18" charset="0"/>
              </a:rPr>
              <a:t>l</a:t>
            </a:r>
            <a:r>
              <a:rPr lang="en-US" sz="2000" spc="-50" dirty="0">
                <a:solidFill>
                  <a:srgbClr val="212121"/>
                </a:solidFill>
                <a:latin typeface="Times New Roman" panose="02020603050405020304" pitchFamily="18" charset="0"/>
                <a:cs typeface="Times New Roman" panose="02020603050405020304" pitchFamily="18" charset="0"/>
              </a:rPr>
              <a:t> </a:t>
            </a:r>
            <a:r>
              <a:rPr lang="en-US" sz="2000" spc="-20" dirty="0">
                <a:solidFill>
                  <a:srgbClr val="212121"/>
                </a:solidFill>
                <a:latin typeface="Times New Roman" panose="02020603050405020304" pitchFamily="18" charset="0"/>
                <a:cs typeface="Times New Roman" panose="02020603050405020304" pitchFamily="18" charset="0"/>
              </a:rPr>
              <a:t>Training-</a:t>
            </a:r>
            <a:r>
              <a:rPr lang="en-US" sz="2000" spc="-5" dirty="0">
                <a:solidFill>
                  <a:srgbClr val="212121"/>
                </a:solidFill>
                <a:latin typeface="Times New Roman" panose="02020603050405020304" pitchFamily="18" charset="0"/>
                <a:cs typeface="Times New Roman" panose="02020603050405020304" pitchFamily="18" charset="0"/>
              </a:rPr>
              <a:t>splitting</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spc="-5" dirty="0">
                <a:solidFill>
                  <a:srgbClr val="212121"/>
                </a:solidFill>
                <a:latin typeface="Times New Roman" panose="02020603050405020304" pitchFamily="18" charset="0"/>
                <a:cs typeface="Times New Roman" panose="02020603050405020304" pitchFamily="18" charset="0"/>
              </a:rPr>
              <a:t>th</a:t>
            </a:r>
            <a:r>
              <a:rPr lang="en-US" sz="2000" dirty="0">
                <a:solidFill>
                  <a:srgbClr val="212121"/>
                </a:solidFill>
                <a:latin typeface="Times New Roman" panose="02020603050405020304" pitchFamily="18" charset="0"/>
                <a:cs typeface="Times New Roman" panose="02020603050405020304" pitchFamily="18" charset="0"/>
              </a:rPr>
              <a:t>e</a:t>
            </a:r>
            <a:r>
              <a:rPr lang="en-US" sz="2000" spc="-2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dataset</a:t>
            </a:r>
            <a:r>
              <a:rPr lang="en-US" sz="2000" spc="-45" dirty="0">
                <a:solidFill>
                  <a:srgbClr val="212121"/>
                </a:solidFill>
                <a:latin typeface="Times New Roman" panose="02020603050405020304" pitchFamily="18" charset="0"/>
                <a:cs typeface="Times New Roman" panose="02020603050405020304" pitchFamily="18" charset="0"/>
              </a:rPr>
              <a:t> </a:t>
            </a:r>
            <a:r>
              <a:rPr lang="en-US" sz="2000" spc="-5" dirty="0">
                <a:solidFill>
                  <a:srgbClr val="212121"/>
                </a:solidFill>
                <a:latin typeface="Times New Roman" panose="02020603050405020304" pitchFamily="18" charset="0"/>
                <a:cs typeface="Times New Roman" panose="02020603050405020304" pitchFamily="18" charset="0"/>
              </a:rPr>
              <a:t>int</a:t>
            </a:r>
            <a:r>
              <a:rPr lang="en-US" sz="2000" dirty="0">
                <a:solidFill>
                  <a:srgbClr val="212121"/>
                </a:solidFill>
                <a:latin typeface="Times New Roman" panose="02020603050405020304" pitchFamily="18" charset="0"/>
                <a:cs typeface="Times New Roman" panose="02020603050405020304" pitchFamily="18" charset="0"/>
              </a:rPr>
              <a:t>o</a:t>
            </a:r>
            <a:r>
              <a:rPr lang="en-US" sz="2000" spc="-10" dirty="0">
                <a:solidFill>
                  <a:srgbClr val="212121"/>
                </a:solidFill>
                <a:latin typeface="Times New Roman" panose="02020603050405020304" pitchFamily="18" charset="0"/>
                <a:cs typeface="Times New Roman" panose="02020603050405020304" pitchFamily="18" charset="0"/>
              </a:rPr>
              <a:t> </a:t>
            </a:r>
            <a:r>
              <a:rPr lang="en-US" sz="2000" spc="-5" dirty="0">
                <a:solidFill>
                  <a:srgbClr val="212121"/>
                </a:solidFill>
                <a:latin typeface="Times New Roman" panose="02020603050405020304" pitchFamily="18" charset="0"/>
                <a:cs typeface="Times New Roman" panose="02020603050405020304" pitchFamily="18" charset="0"/>
              </a:rPr>
              <a:t>trainin</a:t>
            </a:r>
            <a:r>
              <a:rPr lang="en-US" sz="2000" dirty="0">
                <a:solidFill>
                  <a:srgbClr val="212121"/>
                </a:solidFill>
                <a:latin typeface="Times New Roman" panose="02020603050405020304" pitchFamily="18" charset="0"/>
                <a:cs typeface="Times New Roman" panose="02020603050405020304" pitchFamily="18" charset="0"/>
              </a:rPr>
              <a:t>g</a:t>
            </a:r>
            <a:r>
              <a:rPr lang="en-US" sz="2000" spc="-1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set</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spc="-5" dirty="0">
                <a:solidFill>
                  <a:srgbClr val="212121"/>
                </a:solidFill>
                <a:latin typeface="Times New Roman" panose="02020603050405020304" pitchFamily="18" charset="0"/>
                <a:cs typeface="Times New Roman" panose="02020603050405020304" pitchFamily="18" charset="0"/>
              </a:rPr>
              <a:t>an</a:t>
            </a:r>
            <a:r>
              <a:rPr lang="en-US" sz="2000" dirty="0">
                <a:solidFill>
                  <a:srgbClr val="212121"/>
                </a:solidFill>
                <a:latin typeface="Times New Roman" panose="02020603050405020304" pitchFamily="18" charset="0"/>
                <a:cs typeface="Times New Roman" panose="02020603050405020304" pitchFamily="18" charset="0"/>
              </a:rPr>
              <a:t>d</a:t>
            </a:r>
            <a:r>
              <a:rPr lang="en-US" sz="2000" spc="-15" dirty="0">
                <a:solidFill>
                  <a:srgbClr val="212121"/>
                </a:solidFill>
                <a:latin typeface="Times New Roman" panose="02020603050405020304" pitchFamily="18" charset="0"/>
                <a:cs typeface="Times New Roman" panose="02020603050405020304" pitchFamily="18" charset="0"/>
              </a:rPr>
              <a:t> </a:t>
            </a:r>
            <a:r>
              <a:rPr lang="en-US" sz="2000" spc="-5" dirty="0">
                <a:solidFill>
                  <a:srgbClr val="212121"/>
                </a:solidFill>
                <a:latin typeface="Times New Roman" panose="02020603050405020304" pitchFamily="18" charset="0"/>
                <a:cs typeface="Times New Roman" panose="02020603050405020304" pitchFamily="18" charset="0"/>
              </a:rPr>
              <a:t>testin</a:t>
            </a:r>
            <a:r>
              <a:rPr lang="en-US" sz="2000" dirty="0">
                <a:solidFill>
                  <a:srgbClr val="212121"/>
                </a:solidFill>
                <a:latin typeface="Times New Roman" panose="02020603050405020304" pitchFamily="18" charset="0"/>
                <a:cs typeface="Times New Roman" panose="02020603050405020304" pitchFamily="18" charset="0"/>
              </a:rPr>
              <a:t>g</a:t>
            </a:r>
            <a:r>
              <a:rPr lang="en-US" sz="2000" spc="-5" dirty="0">
                <a:solidFill>
                  <a:srgbClr val="212121"/>
                </a:solidFill>
                <a:latin typeface="Times New Roman" panose="02020603050405020304" pitchFamily="18" charset="0"/>
                <a:cs typeface="Times New Roman" panose="02020603050405020304" pitchFamily="18" charset="0"/>
              </a:rPr>
              <a:t> </a:t>
            </a:r>
            <a:r>
              <a:rPr lang="en-US" sz="2000" spc="-5" dirty="0" err="1">
                <a:solidFill>
                  <a:srgbClr val="212121"/>
                </a:solidFill>
                <a:latin typeface="Times New Roman" panose="02020603050405020304" pitchFamily="18" charset="0"/>
                <a:cs typeface="Times New Roman" panose="02020603050405020304" pitchFamily="18" charset="0"/>
              </a:rPr>
              <a:t>set,performing</a:t>
            </a:r>
            <a:r>
              <a:rPr lang="en-US" sz="2000" spc="-35" dirty="0">
                <a:solidFill>
                  <a:srgbClr val="212121"/>
                </a:solidFill>
                <a:latin typeface="Times New Roman" panose="02020603050405020304" pitchFamily="18" charset="0"/>
                <a:cs typeface="Times New Roman" panose="02020603050405020304" pitchFamily="18" charset="0"/>
              </a:rPr>
              <a:t> Random Forest </a:t>
            </a:r>
            <a:r>
              <a:rPr lang="en-US" sz="2000" dirty="0">
                <a:solidFill>
                  <a:srgbClr val="212121"/>
                </a:solidFill>
                <a:latin typeface="Times New Roman" panose="02020603050405020304" pitchFamily="18" charset="0"/>
                <a:cs typeface="Times New Roman" panose="02020603050405020304" pitchFamily="18" charset="0"/>
              </a:rPr>
              <a:t>and</a:t>
            </a:r>
            <a:r>
              <a:rPr lang="en-US" sz="2000" spc="-30"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predicting</a:t>
            </a:r>
            <a:r>
              <a:rPr lang="en-US" sz="2000" spc="-4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the</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spc="-10" dirty="0">
                <a:solidFill>
                  <a:srgbClr val="212121"/>
                </a:solidFill>
                <a:latin typeface="Times New Roman" panose="02020603050405020304" pitchFamily="18" charset="0"/>
                <a:cs typeface="Times New Roman" panose="02020603050405020304" pitchFamily="18" charset="0"/>
              </a:rPr>
              <a:t>prices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spc="-5" dirty="0">
                <a:solidFill>
                  <a:srgbClr val="212121"/>
                </a:solidFill>
                <a:latin typeface="Times New Roman" panose="02020603050405020304" pitchFamily="18" charset="0"/>
                <a:cs typeface="Times New Roman" panose="02020603050405020304" pitchFamily="18" charset="0"/>
              </a:rPr>
              <a:t>Mode</a:t>
            </a:r>
            <a:r>
              <a:rPr lang="en-US" sz="2000" dirty="0">
                <a:solidFill>
                  <a:srgbClr val="212121"/>
                </a:solidFill>
                <a:latin typeface="Times New Roman" panose="02020603050405020304" pitchFamily="18" charset="0"/>
                <a:cs typeface="Times New Roman" panose="02020603050405020304" pitchFamily="18" charset="0"/>
              </a:rPr>
              <a:t>l</a:t>
            </a:r>
            <a:r>
              <a:rPr lang="en-US" sz="2000" spc="-1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E</a:t>
            </a:r>
            <a:r>
              <a:rPr lang="en-US" sz="2000" spc="-10" dirty="0">
                <a:solidFill>
                  <a:srgbClr val="212121"/>
                </a:solidFill>
                <a:latin typeface="Times New Roman" panose="02020603050405020304" pitchFamily="18" charset="0"/>
                <a:cs typeface="Times New Roman" panose="02020603050405020304" pitchFamily="18" charset="0"/>
              </a:rPr>
              <a:t>v</a:t>
            </a:r>
            <a:r>
              <a:rPr lang="en-US" sz="2000" spc="-5" dirty="0">
                <a:solidFill>
                  <a:srgbClr val="212121"/>
                </a:solidFill>
                <a:latin typeface="Times New Roman" panose="02020603050405020304" pitchFamily="18" charset="0"/>
                <a:cs typeface="Times New Roman" panose="02020603050405020304" pitchFamily="18" charset="0"/>
              </a:rPr>
              <a:t>aluatio</a:t>
            </a:r>
            <a:r>
              <a:rPr lang="en-US" sz="2000" dirty="0">
                <a:solidFill>
                  <a:srgbClr val="212121"/>
                </a:solidFill>
                <a:latin typeface="Times New Roman" panose="02020603050405020304" pitchFamily="18" charset="0"/>
                <a:cs typeface="Times New Roman" panose="02020603050405020304" pitchFamily="18" charset="0"/>
              </a:rPr>
              <a:t>n- </a:t>
            </a:r>
            <a:r>
              <a:rPr lang="en-US" sz="2000" spc="-10" dirty="0">
                <a:latin typeface="Times New Roman" panose="02020603050405020304" pitchFamily="18" charset="0"/>
                <a:cs typeface="Times New Roman" panose="02020603050405020304" pitchFamily="18" charset="0"/>
              </a:rPr>
              <a:t>Measure</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the</a:t>
            </a:r>
            <a:r>
              <a:rPr lang="en-US" sz="2000" spc="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model’s</a:t>
            </a:r>
            <a:r>
              <a:rPr lang="en-US" sz="2000" spc="10"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accuracy</a:t>
            </a:r>
            <a:r>
              <a:rPr lang="en-US" sz="2000" spc="15"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and</a:t>
            </a:r>
            <a:r>
              <a:rPr lang="en-US" sz="2000" spc="-5" dirty="0">
                <a:latin typeface="Times New Roman" panose="02020603050405020304" pitchFamily="18" charset="0"/>
                <a:cs typeface="Times New Roman" panose="02020603050405020304" pitchFamily="18" charset="0"/>
              </a:rPr>
              <a:t> performance.</a:t>
            </a:r>
          </a:p>
          <a:p>
            <a:pPr marL="342900" indent="-342900">
              <a:buFont typeface="Arial" panose="020B0604020202020204" pitchFamily="34" charset="0"/>
              <a:buChar char="•"/>
            </a:pPr>
            <a:r>
              <a:rPr lang="en-US" sz="2000" dirty="0">
                <a:solidFill>
                  <a:srgbClr val="212121"/>
                </a:solidFill>
                <a:latin typeface="Times New Roman" panose="02020603050405020304" pitchFamily="18" charset="0"/>
                <a:cs typeface="Times New Roman" panose="02020603050405020304" pitchFamily="18" charset="0"/>
              </a:rPr>
              <a:t>Predi</a:t>
            </a:r>
            <a:r>
              <a:rPr lang="en-US" sz="2000" spc="5" dirty="0">
                <a:solidFill>
                  <a:srgbClr val="212121"/>
                </a:solidFill>
                <a:latin typeface="Times New Roman" panose="02020603050405020304" pitchFamily="18" charset="0"/>
                <a:cs typeface="Times New Roman" panose="02020603050405020304" pitchFamily="18" charset="0"/>
              </a:rPr>
              <a:t>c</a:t>
            </a:r>
            <a:r>
              <a:rPr lang="en-US" sz="2000" spc="-5" dirty="0">
                <a:solidFill>
                  <a:srgbClr val="212121"/>
                </a:solidFill>
                <a:latin typeface="Times New Roman" panose="02020603050405020304" pitchFamily="18" charset="0"/>
                <a:cs typeface="Times New Roman" panose="02020603050405020304" pitchFamily="18" charset="0"/>
              </a:rPr>
              <a:t>tio</a:t>
            </a:r>
            <a:r>
              <a:rPr lang="en-US" sz="2000" dirty="0">
                <a:solidFill>
                  <a:srgbClr val="212121"/>
                </a:solidFill>
                <a:latin typeface="Times New Roman" panose="02020603050405020304" pitchFamily="18" charset="0"/>
                <a:cs typeface="Times New Roman" panose="02020603050405020304" pitchFamily="18" charset="0"/>
              </a:rPr>
              <a:t>n</a:t>
            </a:r>
            <a:r>
              <a:rPr lang="en-US" sz="2000" spc="-35" dirty="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In</a:t>
            </a:r>
            <a:r>
              <a:rPr lang="en-US" sz="2000" spc="-10" dirty="0">
                <a:solidFill>
                  <a:srgbClr val="212121"/>
                </a:solidFill>
                <a:latin typeface="Times New Roman" panose="02020603050405020304" pitchFamily="18" charset="0"/>
                <a:cs typeface="Times New Roman" panose="02020603050405020304" pitchFamily="18" charset="0"/>
              </a:rPr>
              <a:t>t</a:t>
            </a:r>
            <a:r>
              <a:rPr lang="en-US" sz="2000" dirty="0">
                <a:solidFill>
                  <a:srgbClr val="212121"/>
                </a:solidFill>
                <a:latin typeface="Times New Roman" panose="02020603050405020304" pitchFamily="18" charset="0"/>
                <a:cs typeface="Times New Roman" panose="02020603050405020304" pitchFamily="18" charset="0"/>
              </a:rPr>
              <a:t>er</a:t>
            </a:r>
            <a:r>
              <a:rPr lang="en-US" sz="2000" spc="-5" dirty="0">
                <a:solidFill>
                  <a:srgbClr val="212121"/>
                </a:solidFill>
                <a:latin typeface="Times New Roman" panose="02020603050405020304" pitchFamily="18" charset="0"/>
                <a:cs typeface="Times New Roman" panose="02020603050405020304" pitchFamily="18" charset="0"/>
              </a:rPr>
              <a:t>fac</a:t>
            </a:r>
            <a:r>
              <a:rPr lang="en-US" sz="2000" spc="10" dirty="0">
                <a:solidFill>
                  <a:srgbClr val="212121"/>
                </a:solidFill>
                <a:latin typeface="Times New Roman" panose="02020603050405020304" pitchFamily="18" charset="0"/>
                <a:cs typeface="Times New Roman" panose="02020603050405020304" pitchFamily="18" charset="0"/>
              </a:rPr>
              <a:t>e</a:t>
            </a:r>
            <a:r>
              <a:rPr lang="en-US" sz="2000" dirty="0">
                <a:solidFill>
                  <a:srgbClr val="212121"/>
                </a:solidFill>
                <a:latin typeface="Times New Roman" panose="02020603050405020304" pitchFamily="18" charset="0"/>
                <a:cs typeface="Times New Roman" panose="02020603050405020304" pitchFamily="18" charset="0"/>
              </a:rPr>
              <a:t>-</a:t>
            </a:r>
            <a:r>
              <a:rPr lang="en-US" sz="2000" spc="-10" dirty="0">
                <a:latin typeface="Times New Roman" panose="02020603050405020304" pitchFamily="18" charset="0"/>
                <a:cs typeface="Times New Roman" panose="02020603050405020304" pitchFamily="18" charset="0"/>
              </a:rPr>
              <a:t>Deploy</a:t>
            </a:r>
            <a:r>
              <a:rPr lang="en-US" sz="2000" spc="-15" dirty="0">
                <a:latin typeface="Times New Roman" panose="02020603050405020304" pitchFamily="18" charset="0"/>
                <a:cs typeface="Times New Roman" panose="02020603050405020304" pitchFamily="18" charset="0"/>
              </a:rPr>
              <a:t> </a:t>
            </a:r>
            <a:r>
              <a:rPr lang="en-US" sz="2000" spc="-5"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e</a:t>
            </a:r>
            <a:r>
              <a:rPr lang="en-US" sz="2000" spc="-5"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trained</a:t>
            </a:r>
            <a:r>
              <a:rPr lang="en-US" sz="2000" spc="1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model</a:t>
            </a:r>
            <a:r>
              <a:rPr lang="en-US" sz="2000" spc="-5" dirty="0">
                <a:latin typeface="Times New Roman" panose="02020603050405020304" pitchFamily="18" charset="0"/>
                <a:cs typeface="Times New Roman" panose="02020603050405020304" pitchFamily="18" charset="0"/>
              </a:rPr>
              <a:t> s</a:t>
            </a:r>
            <a:r>
              <a:rPr lang="en-US" sz="2000" dirty="0">
                <a:latin typeface="Times New Roman" panose="02020603050405020304" pitchFamily="18" charset="0"/>
                <a:cs typeface="Times New Roman" panose="02020603050405020304" pitchFamily="18" charset="0"/>
              </a:rPr>
              <a:t>o</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users</a:t>
            </a:r>
            <a:r>
              <a:rPr lang="en-US" sz="2000" spc="-5"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can</a:t>
            </a:r>
            <a:r>
              <a:rPr lang="en-US" sz="2000" spc="5"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predict</a:t>
            </a:r>
            <a:r>
              <a:rPr lang="en-US" sz="2000" spc="25"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car</a:t>
            </a:r>
            <a:r>
              <a:rPr lang="en-US" sz="2000" spc="1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prices</a:t>
            </a:r>
            <a:r>
              <a:rPr lang="en-US" sz="2000" spc="10"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by</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a:t>
            </a:r>
            <a:r>
              <a:rPr lang="en-US" sz="2000" spc="-5" dirty="0">
                <a:latin typeface="Times New Roman" panose="02020603050405020304" pitchFamily="18" charset="0"/>
                <a:cs typeface="Times New Roman" panose="02020603050405020304" pitchFamily="18" charset="0"/>
              </a:rPr>
              <a:t>nter</a:t>
            </a:r>
            <a:r>
              <a:rPr lang="en-US" sz="2000" spc="-10" dirty="0">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ng </a:t>
            </a:r>
            <a:r>
              <a:rPr lang="en-US" sz="2000" spc="-15" dirty="0">
                <a:latin typeface="Times New Roman" panose="02020603050405020304" pitchFamily="18" charset="0"/>
                <a:cs typeface="Times New Roman" panose="02020603050405020304" pitchFamily="18" charset="0"/>
              </a:rPr>
              <a:t>details.</a:t>
            </a:r>
            <a:endParaRPr lang="en-US" sz="2000" dirty="0">
              <a:latin typeface="Times New Roman" panose="02020603050405020304" pitchFamily="18" charset="0"/>
              <a:cs typeface="Times New Roman" panose="02020603050405020304" pitchFamily="18" charset="0"/>
            </a:endParaRPr>
          </a:p>
          <a:p>
            <a:endParaRPr lang="en-IN" sz="1800" b="1" spc="-5" dirty="0">
              <a:latin typeface="Times New Roman"/>
              <a:cs typeface="Times New Roman"/>
            </a:endParaRPr>
          </a:p>
          <a:p>
            <a:endParaRPr lang="en-IN" sz="1800" b="1" spc="-5" dirty="0">
              <a:latin typeface="Times New Roman"/>
              <a:cs typeface="Times New Roman"/>
            </a:endParaRPr>
          </a:p>
          <a:p>
            <a:endParaRPr lang="en-IN" dirty="0"/>
          </a:p>
        </p:txBody>
      </p:sp>
    </p:spTree>
    <p:extLst>
      <p:ext uri="{BB962C8B-B14F-4D97-AF65-F5344CB8AC3E}">
        <p14:creationId xmlns:p14="http://schemas.microsoft.com/office/powerpoint/2010/main" val="355874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552AD0-61B0-07CB-25B6-C51FFED1C13B}"/>
              </a:ext>
            </a:extLst>
          </p:cNvPr>
          <p:cNvSpPr txBox="1"/>
          <p:nvPr/>
        </p:nvSpPr>
        <p:spPr>
          <a:xfrm>
            <a:off x="704850" y="520511"/>
            <a:ext cx="10782300" cy="5539978"/>
          </a:xfrm>
          <a:prstGeom prst="rect">
            <a:avLst/>
          </a:prstGeom>
          <a:noFill/>
        </p:spPr>
        <p:txBody>
          <a:bodyPr wrap="square" rtlCol="0">
            <a:spAutoFit/>
          </a:bodyPr>
          <a:lstStyle/>
          <a:p>
            <a:pPr>
              <a:buNone/>
            </a:pPr>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Programming Language:</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Used for data preprocessing, model development, and deployment.</a:t>
            </a:r>
          </a:p>
          <a:p>
            <a:pPr>
              <a:buNone/>
            </a:pPr>
            <a:r>
              <a:rPr lang="en-US" sz="2400" b="1" dirty="0">
                <a:latin typeface="Times New Roman" panose="02020603050405020304" pitchFamily="18" charset="0"/>
                <a:cs typeface="Times New Roman" panose="02020603050405020304" pitchFamily="18" charset="0"/>
              </a:rPr>
              <a:t>Libraries:</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Pandas</a:t>
            </a:r>
            <a:r>
              <a:rPr lang="en-US" dirty="0">
                <a:latin typeface="Times New Roman" panose="02020603050405020304" pitchFamily="18" charset="0"/>
                <a:cs typeface="Times New Roman" panose="02020603050405020304" pitchFamily="18" charset="0"/>
              </a:rPr>
              <a:t>: For loading, cleaning, and analyzing datasets.</a:t>
            </a:r>
          </a:p>
          <a:p>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Scikit-learn</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For implementing the Random Forest model and preprocessing.</a:t>
            </a:r>
          </a:p>
          <a:p>
            <a:r>
              <a:rPr lang="en-US"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Gradio</a:t>
            </a:r>
            <a:r>
              <a:rPr lang="en-US" dirty="0">
                <a:latin typeface="Times New Roman" panose="02020603050405020304" pitchFamily="18" charset="0"/>
                <a:cs typeface="Times New Roman" panose="02020603050405020304" pitchFamily="18" charset="0"/>
              </a:rPr>
              <a:t>: To create a user-friendly web interface for real-time car price prediction.</a:t>
            </a:r>
          </a:p>
          <a:p>
            <a:r>
              <a:rPr lang="en-US"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Joblib</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saving and loading the trained model and encoders.</a:t>
            </a:r>
          </a:p>
          <a:p>
            <a:pPr>
              <a:buNone/>
            </a:pPr>
            <a:r>
              <a:rPr lang="en-US" sz="2400" b="1" dirty="0">
                <a:latin typeface="Times New Roman" panose="02020603050405020304" pitchFamily="18" charset="0"/>
                <a:cs typeface="Times New Roman" panose="02020603050405020304" pitchFamily="18" charset="0"/>
              </a:rPr>
              <a:t>Environment:</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Jupyter</a:t>
            </a:r>
            <a:r>
              <a:rPr lang="en-US" sz="2000" b="1" dirty="0">
                <a:latin typeface="Times New Roman" panose="02020603050405020304" pitchFamily="18" charset="0"/>
                <a:cs typeface="Times New Roman" panose="02020603050405020304" pitchFamily="18" charset="0"/>
              </a:rPr>
              <a:t> Notebook</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Interactive development and testing of machine learning code.</a:t>
            </a:r>
          </a:p>
          <a:p>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Anaconda</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Simplifies package management and environment setup.</a:t>
            </a:r>
          </a:p>
          <a:p>
            <a:pPr>
              <a:buNone/>
            </a:pPr>
            <a:r>
              <a:rPr lang="en-US" sz="2400" b="1" dirty="0">
                <a:latin typeface="Times New Roman" panose="02020603050405020304" pitchFamily="18" charset="0"/>
                <a:cs typeface="Times New Roman" panose="02020603050405020304" pitchFamily="18" charset="0"/>
              </a:rPr>
              <a:t>Model:</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Random Forest Regressor</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powerful ensemble learning method used for accurate car price    </a:t>
            </a:r>
          </a:p>
          <a:p>
            <a:r>
              <a:rPr lang="en-US" dirty="0">
                <a:latin typeface="Times New Roman" panose="02020603050405020304" pitchFamily="18" charset="0"/>
                <a:cs typeface="Times New Roman" panose="02020603050405020304" pitchFamily="18" charset="0"/>
              </a:rPr>
              <a:t>                                                                 prediction.</a:t>
            </a:r>
          </a:p>
          <a:p>
            <a:pPr>
              <a:buNone/>
            </a:pPr>
            <a:r>
              <a:rPr lang="en-US" sz="2400" b="1" dirty="0">
                <a:latin typeface="Times New Roman" panose="02020603050405020304" pitchFamily="18" charset="0"/>
                <a:cs typeface="Times New Roman" panose="02020603050405020304" pitchFamily="18" charset="0"/>
              </a:rPr>
              <a:t>Deployment:</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Gradio</a:t>
            </a:r>
            <a:r>
              <a:rPr lang="en-US" sz="2000" b="1" dirty="0">
                <a:latin typeface="Times New Roman" panose="02020603050405020304" pitchFamily="18" charset="0"/>
                <a:cs typeface="Times New Roman" panose="02020603050405020304" pitchFamily="18" charset="0"/>
              </a:rPr>
              <a:t> Web App</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Allows users to input car details and instantly get price predictions through an  </a:t>
            </a:r>
          </a:p>
          <a:p>
            <a:r>
              <a:rPr lang="en-US" dirty="0">
                <a:latin typeface="Times New Roman" panose="02020603050405020304" pitchFamily="18" charset="0"/>
                <a:cs typeface="Times New Roman" panose="02020603050405020304" pitchFamily="18" charset="0"/>
              </a:rPr>
              <a:t>                                                 intuitive  UI    </a:t>
            </a:r>
          </a:p>
        </p:txBody>
      </p:sp>
      <p:sp>
        <p:nvSpPr>
          <p:cNvPr id="3" name="TextBox 2">
            <a:extLst>
              <a:ext uri="{FF2B5EF4-FFF2-40B4-BE49-F238E27FC236}">
                <a16:creationId xmlns:a16="http://schemas.microsoft.com/office/drawing/2014/main" id="{095D1C81-B3C3-F2E4-8E5B-4842E8F7CC1A}"/>
              </a:ext>
            </a:extLst>
          </p:cNvPr>
          <p:cNvSpPr txBox="1"/>
          <p:nvPr/>
        </p:nvSpPr>
        <p:spPr>
          <a:xfrm>
            <a:off x="152400" y="152400"/>
            <a:ext cx="9982200" cy="861774"/>
          </a:xfrm>
          <a:prstGeom prst="rect">
            <a:avLst/>
          </a:prstGeom>
          <a:noFill/>
        </p:spPr>
        <p:txBody>
          <a:bodyPr wrap="square" rtlCol="0">
            <a:spAutoFit/>
          </a:bodyPr>
          <a:lstStyle/>
          <a:p>
            <a:r>
              <a:rPr lang="en-IN" sz="3200" b="1" dirty="0"/>
              <a:t>Technology Stack:</a:t>
            </a:r>
          </a:p>
          <a:p>
            <a:endParaRPr lang="en-IN" dirty="0"/>
          </a:p>
        </p:txBody>
      </p:sp>
    </p:spTree>
    <p:extLst>
      <p:ext uri="{BB962C8B-B14F-4D97-AF65-F5344CB8AC3E}">
        <p14:creationId xmlns:p14="http://schemas.microsoft.com/office/powerpoint/2010/main" val="1876570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687B4C-E0FF-ED44-5ADE-D5E6421289BF}"/>
              </a:ext>
            </a:extLst>
          </p:cNvPr>
          <p:cNvSpPr txBox="1"/>
          <p:nvPr/>
        </p:nvSpPr>
        <p:spPr>
          <a:xfrm>
            <a:off x="228600" y="228600"/>
            <a:ext cx="11658600" cy="584775"/>
          </a:xfrm>
          <a:prstGeom prst="rect">
            <a:avLst/>
          </a:prstGeom>
          <a:noFill/>
        </p:spPr>
        <p:txBody>
          <a:bodyPr wrap="square" rtlCol="0">
            <a:spAutoFit/>
          </a:bodyPr>
          <a:lstStyle/>
          <a:p>
            <a:r>
              <a:rPr lang="en-IN" sz="3200" b="1" dirty="0"/>
              <a:t>Module Structure:</a:t>
            </a:r>
          </a:p>
        </p:txBody>
      </p:sp>
      <p:sp>
        <p:nvSpPr>
          <p:cNvPr id="3" name="TextBox 2">
            <a:extLst>
              <a:ext uri="{FF2B5EF4-FFF2-40B4-BE49-F238E27FC236}">
                <a16:creationId xmlns:a16="http://schemas.microsoft.com/office/drawing/2014/main" id="{FF856D2A-EC56-DE33-5345-556B8E0966C6}"/>
              </a:ext>
            </a:extLst>
          </p:cNvPr>
          <p:cNvSpPr txBox="1"/>
          <p:nvPr/>
        </p:nvSpPr>
        <p:spPr>
          <a:xfrm>
            <a:off x="381000" y="813375"/>
            <a:ext cx="11506200" cy="6032421"/>
          </a:xfrm>
          <a:prstGeom prst="rect">
            <a:avLst/>
          </a:prstGeom>
          <a:noFill/>
        </p:spPr>
        <p:txBody>
          <a:bodyPr wrap="square" rtlCol="0">
            <a:spAutoFit/>
          </a:bodyPr>
          <a:lstStyle/>
          <a:p>
            <a:pPr marL="457200" indent="-457200" algn="l">
              <a:buAutoNum type="arabicPeriod"/>
            </a:pPr>
            <a:r>
              <a:rPr lang="en-US" sz="2000" b="1" dirty="0">
                <a:latin typeface="Times New Roman" panose="02020603050405020304" pitchFamily="18" charset="0"/>
                <a:cs typeface="Times New Roman" panose="02020603050405020304" pitchFamily="18" charset="0"/>
              </a:rPr>
              <a:t>Data Collection and Preprocessing</a:t>
            </a:r>
            <a:endParaRPr lang="en-US" sz="20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Gathered a dataset with car attributes like brand, mileage, fuel type, etc.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Handled missing values, encoded categorical features using Label Encoding, and cleaned the data.</a:t>
            </a:r>
          </a:p>
          <a:p>
            <a:pPr algn="l">
              <a:buNone/>
            </a:pPr>
            <a:r>
              <a:rPr lang="en-US" sz="2000" b="1" dirty="0">
                <a:latin typeface="Times New Roman" panose="02020603050405020304" pitchFamily="18" charset="0"/>
                <a:cs typeface="Times New Roman" panose="02020603050405020304" pitchFamily="18" charset="0"/>
              </a:rPr>
              <a:t>2. Feature Engineering</a:t>
            </a:r>
            <a:endParaRPr lang="en-US" sz="20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Selected key features such as brand, vehicle age, mileage, engine size, and fuel type.</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Dropped less important features like "model" to reduce noise and improve model accuracy.</a:t>
            </a:r>
          </a:p>
          <a:p>
            <a:pPr algn="l"/>
            <a:r>
              <a:rPr lang="en-US" dirty="0">
                <a:latin typeface="+mj-lt"/>
              </a:rPr>
              <a:t> </a:t>
            </a:r>
            <a:r>
              <a:rPr lang="en-US" sz="2000" b="1" dirty="0">
                <a:latin typeface="Times New Roman" panose="02020603050405020304" pitchFamily="18" charset="0"/>
                <a:cs typeface="Times New Roman" panose="02020603050405020304" pitchFamily="18" charset="0"/>
              </a:rPr>
              <a:t>3. Model Training and Testing</a:t>
            </a:r>
            <a:endParaRPr lang="en-US" sz="20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Used Random Forest Regressor for training the model.</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Split the dataset into training (80%) and testing (20%) to validate performance.</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Evaluated using R² score and Mean Absolute Error (MAE).</a:t>
            </a:r>
          </a:p>
          <a:p>
            <a:pPr algn="l">
              <a:buNone/>
            </a:pPr>
            <a:r>
              <a:rPr lang="en-US" sz="2000" b="1" dirty="0">
                <a:latin typeface="Times New Roman" panose="02020603050405020304" pitchFamily="18" charset="0"/>
                <a:cs typeface="Times New Roman" panose="02020603050405020304" pitchFamily="18" charset="0"/>
              </a:rPr>
              <a:t>4. Model Saving and Loading</a:t>
            </a:r>
            <a:endParaRPr lang="en-US" sz="20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Saved the trained model and label encoders using </a:t>
            </a:r>
            <a:r>
              <a:rPr lang="en-US" b="1" dirty="0">
                <a:latin typeface="Times New Roman" panose="02020603050405020304" pitchFamily="18" charset="0"/>
                <a:cs typeface="Times New Roman" panose="02020603050405020304" pitchFamily="18" charset="0"/>
              </a:rPr>
              <a:t>Joblib</a:t>
            </a:r>
            <a:r>
              <a:rPr lang="en-US" dirty="0">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Ensured the saved models can be reused without   retraining during deployment.</a:t>
            </a:r>
          </a:p>
          <a:p>
            <a:pPr algn="l"/>
            <a:endParaRPr lang="en-US" dirty="0">
              <a:latin typeface="Times New Roman" panose="02020603050405020304" pitchFamily="18" charset="0"/>
              <a:cs typeface="Times New Roman" panose="02020603050405020304" pitchFamily="18" charset="0"/>
            </a:endParaRPr>
          </a:p>
          <a:p>
            <a:pPr algn="l">
              <a:buNone/>
            </a:pPr>
            <a:r>
              <a:rPr lang="en-US" sz="2000" b="1" dirty="0">
                <a:latin typeface="Times New Roman" panose="02020603050405020304" pitchFamily="18" charset="0"/>
                <a:cs typeface="Times New Roman" panose="02020603050405020304" pitchFamily="18" charset="0"/>
              </a:rPr>
              <a:t>5. Web Interface Deployment (</a:t>
            </a:r>
            <a:r>
              <a:rPr lang="en-US" sz="2000" b="1" dirty="0" err="1">
                <a:latin typeface="Times New Roman" panose="02020603050405020304" pitchFamily="18" charset="0"/>
                <a:cs typeface="Times New Roman" panose="02020603050405020304" pitchFamily="18" charset="0"/>
              </a:rPr>
              <a:t>Gradio</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Built a simple web application using </a:t>
            </a:r>
            <a:r>
              <a:rPr lang="en-US" b="1" dirty="0" err="1">
                <a:latin typeface="Times New Roman" panose="02020603050405020304" pitchFamily="18" charset="0"/>
                <a:cs typeface="Times New Roman" panose="02020603050405020304" pitchFamily="18" charset="0"/>
              </a:rPr>
              <a:t>Gradio</a:t>
            </a:r>
            <a:r>
              <a:rPr lang="en-US" dirty="0">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Users can input car details to instantly get a predicted selling price.</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Made the model accessible and user-friendly.</a:t>
            </a:r>
          </a:p>
          <a:p>
            <a:pPr algn="l"/>
            <a:endParaRPr lang="en-US" dirty="0">
              <a:latin typeface="Times New Roman" panose="02020603050405020304" pitchFamily="18" charset="0"/>
              <a:cs typeface="Times New Roman" panose="02020603050405020304" pitchFamily="18" charset="0"/>
            </a:endParaRPr>
          </a:p>
          <a:p>
            <a:pPr algn="l"/>
            <a:endParaRPr lang="en-US" sz="1600" dirty="0"/>
          </a:p>
          <a:p>
            <a:pPr algn="l"/>
            <a:endParaRPr lang="en-IN" sz="1600" dirty="0"/>
          </a:p>
        </p:txBody>
      </p:sp>
    </p:spTree>
    <p:extLst>
      <p:ext uri="{BB962C8B-B14F-4D97-AF65-F5344CB8AC3E}">
        <p14:creationId xmlns:p14="http://schemas.microsoft.com/office/powerpoint/2010/main" val="2433902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35472"/>
            <a:ext cx="11963400" cy="6122528"/>
          </a:xfrm>
          <a:prstGeom prst="rect">
            <a:avLst/>
          </a:prstGeom>
        </p:spPr>
      </p:pic>
      <p:sp>
        <p:nvSpPr>
          <p:cNvPr id="4" name="TextBox 3">
            <a:extLst>
              <a:ext uri="{FF2B5EF4-FFF2-40B4-BE49-F238E27FC236}">
                <a16:creationId xmlns:a16="http://schemas.microsoft.com/office/drawing/2014/main" id="{56FE64F7-0BFA-077A-4F5A-DC1D5BABF627}"/>
              </a:ext>
            </a:extLst>
          </p:cNvPr>
          <p:cNvSpPr txBox="1"/>
          <p:nvPr/>
        </p:nvSpPr>
        <p:spPr>
          <a:xfrm>
            <a:off x="79503" y="89141"/>
            <a:ext cx="11320653"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Data Flow Diagram</a:t>
            </a:r>
            <a:endParaRPr lang="en-IN"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system architecture&#10;&#10;AI-generated content may be incorrect.">
            <a:extLst>
              <a:ext uri="{FF2B5EF4-FFF2-40B4-BE49-F238E27FC236}">
                <a16:creationId xmlns:a16="http://schemas.microsoft.com/office/drawing/2014/main" id="{F44041D0-9FFA-C75C-4D29-43EB3C951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1420740"/>
            <a:ext cx="6689835" cy="4456186"/>
          </a:xfrm>
          <a:prstGeom prst="rect">
            <a:avLst/>
          </a:prstGeom>
        </p:spPr>
      </p:pic>
      <p:pic>
        <p:nvPicPr>
          <p:cNvPr id="2" name="object 2"/>
          <p:cNvPicPr/>
          <p:nvPr/>
        </p:nvPicPr>
        <p:blipFill>
          <a:blip r:embed="rId3" cstate="print"/>
          <a:stretch>
            <a:fillRect/>
          </a:stretch>
        </p:blipFill>
        <p:spPr>
          <a:xfrm>
            <a:off x="153145" y="533400"/>
            <a:ext cx="5485655" cy="538877"/>
          </a:xfrm>
          <a:prstGeom prst="rect">
            <a:avLst/>
          </a:prstGeom>
        </p:spPr>
      </p:pic>
      <p:sp>
        <p:nvSpPr>
          <p:cNvPr id="3" name="object 3"/>
          <p:cNvSpPr txBox="1">
            <a:spLocks noGrp="1"/>
          </p:cNvSpPr>
          <p:nvPr>
            <p:ph type="title"/>
          </p:nvPr>
        </p:nvSpPr>
        <p:spPr>
          <a:xfrm>
            <a:off x="153145" y="1447800"/>
            <a:ext cx="3317240" cy="436880"/>
          </a:xfrm>
          <a:prstGeom prst="rect">
            <a:avLst/>
          </a:prstGeom>
        </p:spPr>
        <p:txBody>
          <a:bodyPr vert="horz" wrap="square" lIns="0" tIns="12700" rIns="0" bIns="0" rtlCol="0">
            <a:spAutoFit/>
          </a:bodyPr>
          <a:lstStyle/>
          <a:p>
            <a:pPr marL="12700">
              <a:lnSpc>
                <a:spcPct val="100000"/>
              </a:lnSpc>
              <a:spcBef>
                <a:spcPts val="100"/>
              </a:spcBef>
            </a:pPr>
            <a:r>
              <a:rPr sz="2700" dirty="0"/>
              <a:t>Car</a:t>
            </a:r>
            <a:r>
              <a:rPr sz="2700" spc="-35" dirty="0"/>
              <a:t> </a:t>
            </a:r>
            <a:r>
              <a:rPr sz="2700" dirty="0"/>
              <a:t>price</a:t>
            </a:r>
            <a:r>
              <a:rPr sz="2700" spc="-30" dirty="0"/>
              <a:t> </a:t>
            </a:r>
            <a:r>
              <a:rPr sz="2700" spc="-10" dirty="0"/>
              <a:t>prediction</a:t>
            </a:r>
            <a:endParaRPr sz="2700" dirty="0"/>
          </a:p>
        </p:txBody>
      </p:sp>
      <p:cxnSp>
        <p:nvCxnSpPr>
          <p:cNvPr id="9" name="Straight Connector 8">
            <a:extLst>
              <a:ext uri="{FF2B5EF4-FFF2-40B4-BE49-F238E27FC236}">
                <a16:creationId xmlns:a16="http://schemas.microsoft.com/office/drawing/2014/main" id="{AA22807C-3A76-70BA-4CD8-1D4CF8D00525}"/>
              </a:ext>
            </a:extLst>
          </p:cNvPr>
          <p:cNvCxnSpPr>
            <a:cxnSpLocks/>
          </p:cNvCxnSpPr>
          <p:nvPr/>
        </p:nvCxnSpPr>
        <p:spPr>
          <a:xfrm>
            <a:off x="2514600" y="2209800"/>
            <a:ext cx="0" cy="228600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C0FB1-30F9-60EB-4DB7-0CA3BC6768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1BB7CE-BCDA-E572-101A-C2ED6C36ABD2}"/>
              </a:ext>
            </a:extLst>
          </p:cNvPr>
          <p:cNvSpPr txBox="1"/>
          <p:nvPr/>
        </p:nvSpPr>
        <p:spPr>
          <a:xfrm>
            <a:off x="1261068" y="1066800"/>
            <a:ext cx="10972800" cy="3662541"/>
          </a:xfrm>
          <a:prstGeom prst="rect">
            <a:avLst/>
          </a:prstGeom>
          <a:noFill/>
        </p:spPr>
        <p:txBody>
          <a:bodyPr wrap="square" rtlCol="0">
            <a:spAutoFit/>
          </a:bodyPr>
          <a:lstStyle/>
          <a:p>
            <a:r>
              <a:rPr lang="en-US" sz="2400" b="1" dirty="0"/>
              <a:t>Contribution of Students :</a:t>
            </a:r>
          </a:p>
          <a:p>
            <a:endParaRPr lang="en-US" sz="2400" b="1" dirty="0"/>
          </a:p>
          <a:p>
            <a:r>
              <a:rPr lang="en-US" sz="2400" b="1" dirty="0"/>
              <a:t>Student 1 : </a:t>
            </a:r>
            <a:r>
              <a:rPr lang="en-US" sz="2400" b="1" dirty="0" err="1"/>
              <a:t>A.Ajay</a:t>
            </a:r>
            <a:endParaRPr lang="en-US" sz="2400" b="1" dirty="0"/>
          </a:p>
          <a:p>
            <a:pPr marL="342900" indent="-342900">
              <a:buFont typeface="Arial" panose="020B0604020202020204" pitchFamily="34" charset="0"/>
              <a:buChar char="•"/>
            </a:pPr>
            <a:r>
              <a:rPr lang="en-US" sz="2000" dirty="0"/>
              <a:t>Contributed Collection </a:t>
            </a:r>
            <a:r>
              <a:rPr lang="en-US" sz="2000" dirty="0" err="1"/>
              <a:t>ofdataset</a:t>
            </a:r>
            <a:endParaRPr lang="en-US" sz="2000" dirty="0"/>
          </a:p>
          <a:p>
            <a:pPr marL="342900" indent="-342900">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Arial" panose="020B0604020202020204" pitchFamily="34" charset="0"/>
              </a:rPr>
              <a:t>Work on </a:t>
            </a:r>
            <a:r>
              <a:rPr kumimoji="0" lang="en-US" altLang="en-US" sz="2000" i="0" u="none" strike="noStrike" cap="none" normalizeH="0" baseline="0" dirty="0">
                <a:ln>
                  <a:noFill/>
                </a:ln>
                <a:solidFill>
                  <a:schemeClr val="tx1"/>
                </a:solidFill>
                <a:effectLst/>
                <a:latin typeface="Arial" panose="020B0604020202020204" pitchFamily="34" charset="0"/>
              </a:rPr>
              <a:t>dataset cleaning and preprocessing</a:t>
            </a:r>
          </a:p>
          <a:p>
            <a:pPr marL="342900" indent="-342900">
              <a:buFont typeface="Arial" panose="020B0604020202020204" pitchFamily="34" charset="0"/>
              <a:buChar char="•"/>
            </a:pPr>
            <a:r>
              <a:rPr lang="en-US" sz="2000" dirty="0">
                <a:solidFill>
                  <a:schemeClr val="tx1"/>
                </a:solidFill>
                <a:latin typeface="Arial" panose="020B0604020202020204" pitchFamily="34" charset="0"/>
              </a:rPr>
              <a:t>Train the model(Random Forest)</a:t>
            </a:r>
          </a:p>
          <a:p>
            <a:pPr marL="342900" indent="-342900">
              <a:buFont typeface="Arial" panose="020B0604020202020204" pitchFamily="34" charset="0"/>
              <a:buChar char="•"/>
            </a:pPr>
            <a:r>
              <a:rPr lang="en-US" sz="2000" dirty="0">
                <a:solidFill>
                  <a:schemeClr val="tx1"/>
                </a:solidFill>
                <a:latin typeface="Arial" panose="020B0604020202020204" pitchFamily="34" charset="0"/>
              </a:rPr>
              <a:t>Integration model files with </a:t>
            </a:r>
            <a:r>
              <a:rPr lang="en-US" sz="2000" dirty="0" err="1">
                <a:solidFill>
                  <a:schemeClr val="tx1"/>
                </a:solidFill>
                <a:latin typeface="Arial" panose="020B0604020202020204" pitchFamily="34" charset="0"/>
              </a:rPr>
              <a:t>gradio</a:t>
            </a:r>
            <a:r>
              <a:rPr lang="en-US" sz="2000" dirty="0">
                <a:solidFill>
                  <a:schemeClr val="tx1"/>
                </a:solidFill>
                <a:latin typeface="Arial" panose="020B0604020202020204" pitchFamily="34" charset="0"/>
              </a:rPr>
              <a:t> web app</a:t>
            </a:r>
          </a:p>
          <a:p>
            <a:pPr marL="342900" indent="-342900">
              <a:buFont typeface="Arial" panose="020B0604020202020204" pitchFamily="34" charset="0"/>
              <a:buChar char="•"/>
            </a:pPr>
            <a:r>
              <a:rPr lang="en-US" sz="2000" dirty="0">
                <a:solidFill>
                  <a:schemeClr val="tx1"/>
                </a:solidFill>
                <a:latin typeface="Arial" panose="020B0604020202020204" pitchFamily="34" charset="0"/>
              </a:rPr>
              <a:t>Frontend and Backend Connection</a:t>
            </a:r>
            <a:endParaRPr lang="en-US" sz="2000" dirty="0"/>
          </a:p>
          <a:p>
            <a:pPr marL="342900" indent="-342900">
              <a:buFont typeface="Arial" panose="020B0604020202020204" pitchFamily="34" charset="0"/>
              <a:buChar char="•"/>
            </a:pPr>
            <a:endParaRPr lang="en-US" sz="2000" dirty="0"/>
          </a:p>
          <a:p>
            <a:endParaRPr lang="en-US" sz="2000" dirty="0"/>
          </a:p>
          <a:p>
            <a:endParaRPr lang="en-US" sz="2000" dirty="0"/>
          </a:p>
        </p:txBody>
      </p:sp>
    </p:spTree>
    <p:extLst>
      <p:ext uri="{BB962C8B-B14F-4D97-AF65-F5344CB8AC3E}">
        <p14:creationId xmlns:p14="http://schemas.microsoft.com/office/powerpoint/2010/main" val="1438988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531E9-01E9-EF3A-E21C-DFD744318B3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58B80C-3206-8F39-C74C-023D5A6E895C}"/>
              </a:ext>
            </a:extLst>
          </p:cNvPr>
          <p:cNvSpPr txBox="1"/>
          <p:nvPr/>
        </p:nvSpPr>
        <p:spPr>
          <a:xfrm>
            <a:off x="1143000" y="990600"/>
            <a:ext cx="10515600" cy="830997"/>
          </a:xfrm>
          <a:prstGeom prst="rect">
            <a:avLst/>
          </a:prstGeom>
          <a:noFill/>
        </p:spPr>
        <p:txBody>
          <a:bodyPr wrap="square" rtlCol="0">
            <a:spAutoFit/>
          </a:bodyPr>
          <a:lstStyle/>
          <a:p>
            <a:r>
              <a:rPr lang="en-US" sz="2400" b="1" dirty="0"/>
              <a:t>Student 2: </a:t>
            </a:r>
            <a:r>
              <a:rPr lang="en-US" sz="2400" b="1" dirty="0" err="1"/>
              <a:t>M.Sanjana</a:t>
            </a:r>
            <a:endParaRPr lang="en-US" sz="2400" b="1" dirty="0"/>
          </a:p>
          <a:p>
            <a:endParaRPr lang="en-IN" sz="2400" b="1" dirty="0"/>
          </a:p>
        </p:txBody>
      </p:sp>
      <p:sp>
        <p:nvSpPr>
          <p:cNvPr id="6" name="Rectangle 1">
            <a:extLst>
              <a:ext uri="{FF2B5EF4-FFF2-40B4-BE49-F238E27FC236}">
                <a16:creationId xmlns:a16="http://schemas.microsoft.com/office/drawing/2014/main" id="{3B11D9A9-96FD-DD11-ED21-1676999A15C1}"/>
              </a:ext>
            </a:extLst>
          </p:cNvPr>
          <p:cNvSpPr>
            <a:spLocks noChangeArrowheads="1"/>
          </p:cNvSpPr>
          <p:nvPr/>
        </p:nvSpPr>
        <p:spPr bwMode="auto">
          <a:xfrm rot="10800000" flipV="1">
            <a:off x="1143000" y="1855878"/>
            <a:ext cx="9982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Contributed in collection of dataset</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Apply Label Encoding on Categorial variables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Feature Engineering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Testing the training and testing data finding R^2 Score</a:t>
            </a:r>
          </a:p>
        </p:txBody>
      </p:sp>
    </p:spTree>
    <p:extLst>
      <p:ext uri="{BB962C8B-B14F-4D97-AF65-F5344CB8AC3E}">
        <p14:creationId xmlns:p14="http://schemas.microsoft.com/office/powerpoint/2010/main" val="2556871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14FB-B1C4-394A-3C39-EB3896622A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B80FC4-E43D-F8B8-2660-8C7CD87D1DEC}"/>
              </a:ext>
            </a:extLst>
          </p:cNvPr>
          <p:cNvSpPr txBox="1"/>
          <p:nvPr/>
        </p:nvSpPr>
        <p:spPr>
          <a:xfrm>
            <a:off x="800100" y="914400"/>
            <a:ext cx="10591800" cy="3016210"/>
          </a:xfrm>
          <a:prstGeom prst="rect">
            <a:avLst/>
          </a:prstGeom>
          <a:noFill/>
        </p:spPr>
        <p:txBody>
          <a:bodyPr wrap="square" rtlCol="0">
            <a:spAutoFit/>
          </a:bodyPr>
          <a:lstStyle/>
          <a:p>
            <a:r>
              <a:rPr lang="en-US" sz="2400" b="1" dirty="0"/>
              <a:t>Student 3: </a:t>
            </a:r>
            <a:r>
              <a:rPr lang="en-US" sz="2400" b="1" dirty="0" err="1"/>
              <a:t>K.Pranaydeep</a:t>
            </a:r>
            <a:endParaRPr lang="en-US" sz="2400" b="1" dirty="0"/>
          </a:p>
          <a:p>
            <a:endParaRPr lang="en-US" sz="2400" b="1" dirty="0"/>
          </a:p>
          <a:p>
            <a:pPr marL="342900" indent="-342900">
              <a:buFont typeface="Arial" panose="020B0604020202020204" pitchFamily="34" charset="0"/>
              <a:buChar char="•"/>
            </a:pPr>
            <a:r>
              <a:rPr lang="en-US" sz="2000" dirty="0"/>
              <a:t>Contributed in collection and cleaning of dataset</a:t>
            </a:r>
          </a:p>
          <a:p>
            <a:pPr marL="342900" indent="-342900">
              <a:buFont typeface="Arial" panose="020B0604020202020204" pitchFamily="34" charset="0"/>
              <a:buChar char="•"/>
            </a:pPr>
            <a:r>
              <a:rPr lang="en-US" sz="2000" dirty="0"/>
              <a:t>Training and evaluating the model in Multiple Linear regression</a:t>
            </a:r>
          </a:p>
          <a:p>
            <a:pPr marL="342900" indent="-342900">
              <a:buFont typeface="Arial" panose="020B0604020202020204" pitchFamily="34" charset="0"/>
              <a:buChar char="•"/>
            </a:pPr>
            <a:r>
              <a:rPr lang="en-US" sz="2000" dirty="0"/>
              <a:t>Plotting the relations</a:t>
            </a:r>
          </a:p>
          <a:p>
            <a:endParaRPr lang="en-US" sz="2400" b="1"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250698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B244-870B-C3C1-13DD-E1A56922ADE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3D4AB9E-2184-9D34-0E43-E5176F2797B2}"/>
              </a:ext>
            </a:extLst>
          </p:cNvPr>
          <p:cNvGraphicFramePr>
            <a:graphicFrameLocks noGrp="1"/>
          </p:cNvGraphicFramePr>
          <p:nvPr>
            <p:extLst>
              <p:ext uri="{D42A27DB-BD31-4B8C-83A1-F6EECF244321}">
                <p14:modId xmlns:p14="http://schemas.microsoft.com/office/powerpoint/2010/main" val="2380947419"/>
              </p:ext>
            </p:extLst>
          </p:nvPr>
        </p:nvGraphicFramePr>
        <p:xfrm>
          <a:off x="1905000" y="1389185"/>
          <a:ext cx="8635998" cy="2057400"/>
        </p:xfrm>
        <a:graphic>
          <a:graphicData uri="http://schemas.openxmlformats.org/drawingml/2006/table">
            <a:tbl>
              <a:tblPr firstRow="1" bandRow="1">
                <a:tableStyleId>{5940675A-B579-460E-94D1-54222C63F5DA}</a:tableStyleId>
              </a:tblPr>
              <a:tblGrid>
                <a:gridCol w="2878666">
                  <a:extLst>
                    <a:ext uri="{9D8B030D-6E8A-4147-A177-3AD203B41FA5}">
                      <a16:colId xmlns:a16="http://schemas.microsoft.com/office/drawing/2014/main" val="1960835837"/>
                    </a:ext>
                  </a:extLst>
                </a:gridCol>
                <a:gridCol w="2878666">
                  <a:extLst>
                    <a:ext uri="{9D8B030D-6E8A-4147-A177-3AD203B41FA5}">
                      <a16:colId xmlns:a16="http://schemas.microsoft.com/office/drawing/2014/main" val="3212003482"/>
                    </a:ext>
                  </a:extLst>
                </a:gridCol>
                <a:gridCol w="2878666">
                  <a:extLst>
                    <a:ext uri="{9D8B030D-6E8A-4147-A177-3AD203B41FA5}">
                      <a16:colId xmlns:a16="http://schemas.microsoft.com/office/drawing/2014/main" val="3319288947"/>
                    </a:ext>
                  </a:extLst>
                </a:gridCol>
              </a:tblGrid>
              <a:tr h="651934">
                <a:tc>
                  <a:txBody>
                    <a:bodyPr/>
                    <a:lstStyle/>
                    <a:p>
                      <a:pPr algn="ctr"/>
                      <a:r>
                        <a:rPr lang="en-US" dirty="0"/>
                        <a:t>Model Used</a:t>
                      </a:r>
                      <a:endParaRPr lang="en-IN" dirty="0"/>
                    </a:p>
                  </a:txBody>
                  <a:tcPr/>
                </a:tc>
                <a:tc>
                  <a:txBody>
                    <a:bodyPr/>
                    <a:lstStyle/>
                    <a:p>
                      <a:r>
                        <a:rPr lang="en-US" dirty="0"/>
                        <a:t>R^2 score on testing data</a:t>
                      </a:r>
                      <a:endParaRPr lang="en-IN" dirty="0"/>
                    </a:p>
                  </a:txBody>
                  <a:tcPr/>
                </a:tc>
                <a:tc>
                  <a:txBody>
                    <a:bodyPr/>
                    <a:lstStyle/>
                    <a:p>
                      <a:r>
                        <a:rPr lang="en-US" dirty="0"/>
                        <a:t>R^2 score on training data</a:t>
                      </a:r>
                      <a:endParaRPr lang="en-IN" dirty="0"/>
                    </a:p>
                  </a:txBody>
                  <a:tcPr/>
                </a:tc>
                <a:extLst>
                  <a:ext uri="{0D108BD9-81ED-4DB2-BD59-A6C34878D82A}">
                    <a16:rowId xmlns:a16="http://schemas.microsoft.com/office/drawing/2014/main" val="1429953205"/>
                  </a:ext>
                </a:extLst>
              </a:tr>
              <a:tr h="1405466">
                <a:tc>
                  <a:txBody>
                    <a:bodyPr/>
                    <a:lstStyle/>
                    <a:p>
                      <a:r>
                        <a:rPr lang="en-IN" dirty="0"/>
                        <a:t>Multiple Linear regression</a:t>
                      </a:r>
                    </a:p>
                    <a:p>
                      <a:endParaRPr lang="en-IN" dirty="0"/>
                    </a:p>
                    <a:p>
                      <a:r>
                        <a:rPr lang="en-IN" dirty="0"/>
                        <a:t>Random Forest</a:t>
                      </a:r>
                    </a:p>
                  </a:txBody>
                  <a:tcPr/>
                </a:tc>
                <a:tc>
                  <a:txBody>
                    <a:bodyPr/>
                    <a:lstStyle/>
                    <a:p>
                      <a:r>
                        <a:rPr lang="en-IN" dirty="0"/>
                        <a:t>0.85</a:t>
                      </a:r>
                    </a:p>
                    <a:p>
                      <a:endParaRPr lang="en-IN" dirty="0"/>
                    </a:p>
                    <a:p>
                      <a:r>
                        <a:rPr lang="en-IN" dirty="0"/>
                        <a:t>0.97</a:t>
                      </a:r>
                    </a:p>
                  </a:txBody>
                  <a:tcPr/>
                </a:tc>
                <a:tc>
                  <a:txBody>
                    <a:bodyPr/>
                    <a:lstStyle/>
                    <a:p>
                      <a:r>
                        <a:rPr lang="en-IN" dirty="0"/>
                        <a:t>0.82</a:t>
                      </a:r>
                    </a:p>
                    <a:p>
                      <a:endParaRPr lang="en-IN" dirty="0"/>
                    </a:p>
                    <a:p>
                      <a:r>
                        <a:rPr lang="en-IN" dirty="0"/>
                        <a:t>0.90</a:t>
                      </a:r>
                    </a:p>
                  </a:txBody>
                  <a:tcPr/>
                </a:tc>
                <a:extLst>
                  <a:ext uri="{0D108BD9-81ED-4DB2-BD59-A6C34878D82A}">
                    <a16:rowId xmlns:a16="http://schemas.microsoft.com/office/drawing/2014/main" val="1689167824"/>
                  </a:ext>
                </a:extLst>
              </a:tr>
            </a:tbl>
          </a:graphicData>
        </a:graphic>
      </p:graphicFrame>
      <p:sp>
        <p:nvSpPr>
          <p:cNvPr id="4" name="TextBox 3">
            <a:extLst>
              <a:ext uri="{FF2B5EF4-FFF2-40B4-BE49-F238E27FC236}">
                <a16:creationId xmlns:a16="http://schemas.microsoft.com/office/drawing/2014/main" id="{7AA117F0-F10A-B61D-346A-D66E78AC776B}"/>
              </a:ext>
            </a:extLst>
          </p:cNvPr>
          <p:cNvSpPr txBox="1"/>
          <p:nvPr/>
        </p:nvSpPr>
        <p:spPr>
          <a:xfrm>
            <a:off x="1752600" y="685800"/>
            <a:ext cx="5715000" cy="523220"/>
          </a:xfrm>
          <a:prstGeom prst="rect">
            <a:avLst/>
          </a:prstGeom>
          <a:noFill/>
        </p:spPr>
        <p:txBody>
          <a:bodyPr wrap="square" rtlCol="0">
            <a:spAutoFit/>
          </a:bodyPr>
          <a:lstStyle/>
          <a:p>
            <a:r>
              <a:rPr lang="en-US" sz="2800" b="1" dirty="0"/>
              <a:t>Results and Discussion:</a:t>
            </a:r>
            <a:endParaRPr lang="en-IN" sz="2800" b="1" dirty="0"/>
          </a:p>
        </p:txBody>
      </p:sp>
      <p:sp>
        <p:nvSpPr>
          <p:cNvPr id="5" name="TextBox 4">
            <a:extLst>
              <a:ext uri="{FF2B5EF4-FFF2-40B4-BE49-F238E27FC236}">
                <a16:creationId xmlns:a16="http://schemas.microsoft.com/office/drawing/2014/main" id="{15DCB06E-EF91-26B5-C275-C285762518B4}"/>
              </a:ext>
            </a:extLst>
          </p:cNvPr>
          <p:cNvSpPr txBox="1"/>
          <p:nvPr/>
        </p:nvSpPr>
        <p:spPr>
          <a:xfrm>
            <a:off x="1524000" y="3810000"/>
            <a:ext cx="9016998" cy="2031325"/>
          </a:xfrm>
          <a:prstGeom prst="rect">
            <a:avLst/>
          </a:prstGeom>
          <a:noFill/>
        </p:spPr>
        <p:txBody>
          <a:bodyPr wrap="square" rtlCol="0">
            <a:spAutoFit/>
          </a:bodyPr>
          <a:lstStyle/>
          <a:p>
            <a:r>
              <a:rPr lang="en-US" dirty="0"/>
              <a:t>The car price prediction project demonstrates the effective use of machine learning techniques in estimating the market value of vehicles based on various features such as make, model, year, mileage, fuel type, transmission, and more. By training and evaluating multiple models including Linear Regression and Random Forest the project identifies the most accurate and efficient approach for price estimation.</a:t>
            </a:r>
          </a:p>
          <a:p>
            <a:r>
              <a:rPr lang="en-US" dirty="0"/>
              <a:t>The results show that ensemble methods like Random Forest outperform simpler models, providing higher accuracy and robustness against overfitting.</a:t>
            </a:r>
            <a:endParaRPr lang="en-IN" dirty="0"/>
          </a:p>
        </p:txBody>
      </p:sp>
    </p:spTree>
    <p:extLst>
      <p:ext uri="{BB962C8B-B14F-4D97-AF65-F5344CB8AC3E}">
        <p14:creationId xmlns:p14="http://schemas.microsoft.com/office/powerpoint/2010/main" val="3658678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46F5-A8A4-EE43-9630-06C358EF25FF}"/>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58931022-E2D2-CDE9-C30D-B71E47513F3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TextBox 6">
            <a:extLst>
              <a:ext uri="{FF2B5EF4-FFF2-40B4-BE49-F238E27FC236}">
                <a16:creationId xmlns:a16="http://schemas.microsoft.com/office/drawing/2014/main" id="{C59AA69C-0602-E3F8-C21B-B223B8FBA12C}"/>
              </a:ext>
            </a:extLst>
          </p:cNvPr>
          <p:cNvSpPr txBox="1"/>
          <p:nvPr/>
        </p:nvSpPr>
        <p:spPr>
          <a:xfrm>
            <a:off x="914400" y="990600"/>
            <a:ext cx="10058400" cy="4185761"/>
          </a:xfrm>
          <a:prstGeom prst="rect">
            <a:avLst/>
          </a:prstGeom>
          <a:noFill/>
        </p:spPr>
        <p:txBody>
          <a:bodyPr wrap="square" rtlCol="0">
            <a:spAutoFit/>
          </a:bodyPr>
          <a:lstStyle/>
          <a:p>
            <a:pPr algn="just"/>
            <a:r>
              <a:rPr lang="en-US" sz="2800" b="1" dirty="0"/>
              <a:t>Conclusion :</a:t>
            </a:r>
          </a:p>
          <a:p>
            <a:pPr algn="just"/>
            <a:endParaRPr lang="en-US" sz="2800" b="1" dirty="0"/>
          </a:p>
          <a:p>
            <a:pPr algn="just"/>
            <a:r>
              <a:rPr lang="en-US" dirty="0"/>
              <a:t>The car price prediction project demonstrates the effective use of machine learning techniques in estimating the market value of vehicles based on various features such as make, model, year, mileage, fuel type, transmission, and more. By training and evaluating multiple models including Linear Regression and Random Forest the project identifies the most accurate and efficient approach for price estimation</a:t>
            </a:r>
          </a:p>
          <a:p>
            <a:pPr algn="just"/>
            <a:endParaRPr lang="en-US" dirty="0"/>
          </a:p>
          <a:p>
            <a:pPr algn="just"/>
            <a:r>
              <a:rPr lang="en-IN" sz="2400" b="1" dirty="0"/>
              <a:t>Future Scope Real-</a:t>
            </a:r>
            <a:r>
              <a:rPr lang="en-IN" sz="2400" b="1" dirty="0" err="1"/>
              <a:t>TimeData</a:t>
            </a:r>
            <a:r>
              <a:rPr lang="en-IN" sz="2400" b="1" dirty="0"/>
              <a:t> Integration: </a:t>
            </a:r>
          </a:p>
          <a:p>
            <a:pPr algn="just"/>
            <a:endParaRPr lang="en-IN" sz="2400" b="1" dirty="0"/>
          </a:p>
          <a:p>
            <a:pPr algn="just"/>
            <a:r>
              <a:rPr lang="en-IN" dirty="0"/>
              <a:t>Integrate live data from car listing websites (e.g., </a:t>
            </a:r>
            <a:r>
              <a:rPr lang="en-IN" dirty="0" err="1"/>
              <a:t>CarDekho</a:t>
            </a:r>
            <a:r>
              <a:rPr lang="en-IN" dirty="0"/>
              <a:t>, OLX, </a:t>
            </a:r>
            <a:r>
              <a:rPr lang="en-IN" dirty="0" err="1"/>
              <a:t>CarWale</a:t>
            </a:r>
            <a:r>
              <a:rPr lang="en-IN" dirty="0"/>
              <a:t>) via APIs to ensure dynamic and updated price predictions. Image-</a:t>
            </a:r>
            <a:r>
              <a:rPr lang="en-IN" dirty="0" err="1"/>
              <a:t>BasedPriceEstimation</a:t>
            </a:r>
            <a:r>
              <a:rPr lang="en-IN" dirty="0"/>
              <a:t>: Use computer vision techniques to estimate vehicle condition from images and factor it into the pricing model</a:t>
            </a:r>
          </a:p>
        </p:txBody>
      </p:sp>
    </p:spTree>
    <p:extLst>
      <p:ext uri="{BB962C8B-B14F-4D97-AF65-F5344CB8AC3E}">
        <p14:creationId xmlns:p14="http://schemas.microsoft.com/office/powerpoint/2010/main" val="4222128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0" y="902988"/>
            <a:ext cx="9878695" cy="5052024"/>
          </a:xfrm>
          <a:prstGeom prst="rect">
            <a:avLst/>
          </a:prstGeom>
        </p:spPr>
        <p:txBody>
          <a:bodyPr vert="horz" wrap="square" lIns="0" tIns="62865" rIns="0" bIns="0" rtlCol="0">
            <a:spAutoFit/>
          </a:bodyPr>
          <a:lstStyle/>
          <a:p>
            <a:pPr>
              <a:buNone/>
            </a:pPr>
            <a:r>
              <a:rPr lang="en-US" sz="2000" dirty="0">
                <a:latin typeface="Times New Roman" panose="02020603050405020304" pitchFamily="18" charset="0"/>
                <a:cs typeface="Times New Roman" panose="02020603050405020304" pitchFamily="18" charset="0"/>
              </a:rPr>
              <a:t>[1] K. Dey, M. A. J. Al Zubair, and M. A. Karim, “Predicting Car Prices using Machine Learning Algorithms,” Proceedings of the 2020 International Conference on Computer Science and Software Engineering (CSSE), 2020, pp. 140-145.</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[2] J. R. Hennig, S. G. Hearn, and C. R. Casson, “Car Price Prediction with Regression Models and Neural Networks,” Journal of Artificial Intelligence Research, vol. 59, no. 2, pp. 227-243, 2018.</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[3] A. Rahman, R. K. Singh, and S. Mishra, “A Comparative Study of Machine Learning Algorithms for Predicting Car Prices,” Proceedings of the 2019 IEEE International Conference on Data Mining, pp. 244-252, 2019.</a:t>
            </a:r>
          </a:p>
          <a:p>
            <a:pPr>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[4] M. S. Wazir and A. A. Khushnood, “Predicting Used Car Prices using Regression and Ensemble Methods,” International Journal of Computer Science and Information Security (IJCSIS), vol. 18, no. 5, pp. 64-71, 2020.</a:t>
            </a:r>
          </a:p>
          <a:p>
            <a:pPr marL="12700">
              <a:lnSpc>
                <a:spcPct val="100000"/>
              </a:lnSpc>
              <a:spcBef>
                <a:spcPts val="495"/>
              </a:spcBef>
              <a:tabLst>
                <a:tab pos="268605" algn="l"/>
              </a:tabLst>
            </a:pPr>
            <a:endParaRPr sz="2000" dirty="0">
              <a:latin typeface="Lucida Sans Unicode"/>
              <a:cs typeface="Lucida Sans Unicode"/>
            </a:endParaRPr>
          </a:p>
        </p:txBody>
      </p:sp>
      <p:pic>
        <p:nvPicPr>
          <p:cNvPr id="3" name="object 3"/>
          <p:cNvPicPr/>
          <p:nvPr/>
        </p:nvPicPr>
        <p:blipFill>
          <a:blip r:embed="rId2" cstate="print"/>
          <a:stretch>
            <a:fillRect/>
          </a:stretch>
        </p:blipFill>
        <p:spPr>
          <a:xfrm>
            <a:off x="533400" y="304800"/>
            <a:ext cx="2571766" cy="3942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17FEE-3DA6-CB0F-27AB-1AB9B2E2CE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558A8D2-ED95-3E9B-2157-2A346A869CB2}"/>
              </a:ext>
            </a:extLst>
          </p:cNvPr>
          <p:cNvSpPr txBox="1"/>
          <p:nvPr/>
        </p:nvSpPr>
        <p:spPr>
          <a:xfrm>
            <a:off x="2209800" y="2286000"/>
            <a:ext cx="9182100" cy="4154984"/>
          </a:xfrm>
          <a:prstGeom prst="rect">
            <a:avLst/>
          </a:prstGeom>
          <a:noFill/>
        </p:spPr>
        <p:txBody>
          <a:bodyPr wrap="square" rtlCol="0">
            <a:spAutoFit/>
          </a:bodyPr>
          <a:lstStyle/>
          <a:p>
            <a:r>
              <a:rPr lang="en-US" sz="7200" b="1" dirty="0"/>
              <a:t>THANK YOU</a:t>
            </a:r>
          </a:p>
          <a:p>
            <a:pPr marL="342900" indent="-342900">
              <a:buFont typeface="Arial" panose="020B0604020202020204" pitchFamily="34" charset="0"/>
              <a:buChar char="•"/>
            </a:pPr>
            <a:endParaRPr lang="en-US" sz="6600" dirty="0"/>
          </a:p>
          <a:p>
            <a:pPr marL="342900" indent="-342900">
              <a:buFont typeface="Arial" panose="020B0604020202020204" pitchFamily="34" charset="0"/>
              <a:buChar char="•"/>
            </a:pPr>
            <a:endParaRPr lang="en-US" sz="6600" dirty="0"/>
          </a:p>
          <a:p>
            <a:pPr marL="285750" indent="-285750">
              <a:buFont typeface="Arial" panose="020B0604020202020204" pitchFamily="34" charset="0"/>
              <a:buChar char="•"/>
            </a:pPr>
            <a:endParaRPr lang="en-IN" sz="6000" dirty="0"/>
          </a:p>
        </p:txBody>
      </p:sp>
    </p:spTree>
    <p:extLst>
      <p:ext uri="{BB962C8B-B14F-4D97-AF65-F5344CB8AC3E}">
        <p14:creationId xmlns:p14="http://schemas.microsoft.com/office/powerpoint/2010/main" val="3342152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811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TotalTime>
  <Words>1443</Words>
  <Application>Microsoft Office PowerPoint</Application>
  <PresentationFormat>Widescreen</PresentationFormat>
  <Paragraphs>149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Lucida Sans Unicode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Car price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Review-1</dc:title>
  <dc:creator>M Varaprasd Rao</dc:creator>
  <cp:lastModifiedBy>sanjanamargam12@gmail.com</cp:lastModifiedBy>
  <cp:revision>2</cp:revision>
  <dcterms:created xsi:type="dcterms:W3CDTF">2025-03-01T02:39:48Z</dcterms:created>
  <dcterms:modified xsi:type="dcterms:W3CDTF">2025-04-28T18:06:04Z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2025-02-28T00:00:00Z</vt:filetime>
  </property>
  <property fmtid="{D5CDD505-2E9C-101B-9397-08002B2CF9AE}" pid="3" name="Creator">
    <vt:lpwstr>Microsoft® PowerPoint® for Microsoft 365</vt:lpwstr>
  </property>
  <property fmtid="{D5CDD505-2E9C-101B-9397-08002B2CF9AE}" pid="4" name="LastSaved">
    <vt:filetime>2025-03-01T00:00:00Z</vt:filetime>
  </property>
  <property fmtid="{D5CDD505-2E9C-101B-9397-08002B2CF9AE}" pid="5" name="Producer">
    <vt:lpwstr>Microsoft® PowerPoint® for Microsoft 365</vt:lpwstr>
  </property>
</Properties>
</file>